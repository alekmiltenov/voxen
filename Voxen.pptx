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74" r:id="rId4"/>
    <p:sldId id="276" r:id="rId5"/>
    <p:sldId id="275" r:id="rId6"/>
    <p:sldId id="258" r:id="rId7"/>
    <p:sldId id="264" r:id="rId8"/>
    <p:sldId id="266" r:id="rId9"/>
    <p:sldId id="270" r:id="rId10"/>
    <p:sldId id="262" r:id="rId11"/>
    <p:sldId id="261" r:id="rId12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D2D2D"/>
    <a:srgbClr val="2C2C2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06" d="100"/>
          <a:sy n="106" d="100"/>
        </p:scale>
        <p:origin x="778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5565524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6F9345-8ADA-F7D9-79D6-C95F01DC9A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6547BBF-8B2F-128B-FFBD-17961C4265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76A5D75-FEDA-7BC1-3838-257F7E74666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A182DD8-557E-2A24-802A-A5C68B0AC41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2800628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82555F-0C0D-5CC7-5957-50B8D291C5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E6493BE-8BCA-6930-8697-706108F7AF5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E502469-C314-6594-84D3-10A82D6AE42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6DB7B59-A903-1151-2C2B-C0EC7FDBC3A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0510160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C658F0-2D88-7A8C-165E-ED46D75837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021901D-C406-25A3-BF46-AD83D1D6707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07B5A4B-C272-DA9D-C1FD-982077AFD15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315E0CC-7B77-EF73-C000-8F0BF4E595B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3109252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7828660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1570098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0702491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8080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474720" y="1463040"/>
            <a:ext cx="45720" cy="45720"/>
          </a:xfrm>
          <a:prstGeom prst="ellipse">
            <a:avLst/>
          </a:prstGeom>
          <a:solidFill>
            <a:srgbClr val="222222"/>
          </a:solidFill>
          <a:ln w="12700">
            <a:solidFill>
              <a:srgbClr val="222222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3977640" y="1463040"/>
            <a:ext cx="45720" cy="45720"/>
          </a:xfrm>
          <a:prstGeom prst="ellipse">
            <a:avLst/>
          </a:prstGeom>
          <a:solidFill>
            <a:srgbClr val="222222"/>
          </a:solidFill>
          <a:ln w="12700">
            <a:solidFill>
              <a:srgbClr val="222222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4" name="Shape 2"/>
          <p:cNvSpPr/>
          <p:nvPr/>
        </p:nvSpPr>
        <p:spPr>
          <a:xfrm>
            <a:off x="4480560" y="1463040"/>
            <a:ext cx="45720" cy="45720"/>
          </a:xfrm>
          <a:prstGeom prst="ellipse">
            <a:avLst/>
          </a:prstGeom>
          <a:solidFill>
            <a:srgbClr val="222222"/>
          </a:solidFill>
          <a:ln w="12700">
            <a:solidFill>
              <a:srgbClr val="222222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983480" y="1463040"/>
            <a:ext cx="45720" cy="45720"/>
          </a:xfrm>
          <a:prstGeom prst="ellipse">
            <a:avLst/>
          </a:prstGeom>
          <a:solidFill>
            <a:srgbClr val="222222"/>
          </a:solidFill>
          <a:ln w="12700">
            <a:solidFill>
              <a:srgbClr val="222222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5486400" y="1463040"/>
            <a:ext cx="45720" cy="45720"/>
          </a:xfrm>
          <a:prstGeom prst="ellipse">
            <a:avLst/>
          </a:prstGeom>
          <a:solidFill>
            <a:srgbClr val="222222"/>
          </a:solidFill>
          <a:ln w="12700">
            <a:solidFill>
              <a:srgbClr val="222222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0" y="1737360"/>
            <a:ext cx="91440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200" kern="0" spc="1800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VOXEN</a:t>
            </a:r>
            <a:endParaRPr lang="en-US" sz="7200" dirty="0"/>
          </a:p>
        </p:txBody>
      </p:sp>
      <p:sp>
        <p:nvSpPr>
          <p:cNvPr id="8" name="Text 6"/>
          <p:cNvSpPr/>
          <p:nvPr/>
        </p:nvSpPr>
        <p:spPr>
          <a:xfrm>
            <a:off x="1371600" y="301752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kern="0" spc="100" dirty="0">
                <a:solidFill>
                  <a:srgbClr val="6666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Cистема за хора с двигателн</a:t>
            </a:r>
            <a:r>
              <a:rPr lang="bg-BG" sz="1300" kern="0" spc="100" dirty="0">
                <a:solidFill>
                  <a:srgbClr val="6666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и и говорни </a:t>
            </a:r>
            <a:r>
              <a:rPr lang="en-US" sz="1300" kern="0" spc="100" dirty="0">
                <a:solidFill>
                  <a:srgbClr val="6666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увреждания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840480" y="4480560"/>
            <a:ext cx="1463040" cy="0"/>
          </a:xfrm>
          <a:prstGeom prst="line">
            <a:avLst/>
          </a:prstGeom>
          <a:noFill/>
          <a:ln w="6350">
            <a:solidFill>
              <a:srgbClr val="2A2A2A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0" y="466344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kern="0" spc="300" dirty="0">
                <a:solidFill>
                  <a:srgbClr val="2E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TUES FEST 2026</a:t>
            </a:r>
            <a:endParaRPr lang="en-US" sz="90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8080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5603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6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VOXEN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4572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Проблемът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143000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6666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и настоящите решения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365760" y="1737360"/>
            <a:ext cx="3840480" cy="2834640"/>
          </a:xfrm>
          <a:prstGeom prst="rect">
            <a:avLst/>
          </a:prstGeom>
          <a:solidFill>
            <a:srgbClr val="111111"/>
          </a:solidFill>
          <a:ln w="6350">
            <a:solidFill>
              <a:srgbClr val="333333"/>
            </a:solidFill>
            <a:prstDash val="solid"/>
          </a:ln>
          <a:effectLst>
            <a:outerShdw blurRad="254000" dist="50800" dir="81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40080" y="187452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2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Проблемът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658368" y="2512872"/>
            <a:ext cx="64008" cy="64008"/>
          </a:xfrm>
          <a:prstGeom prst="ellipse">
            <a:avLst/>
          </a:prstGeom>
          <a:solidFill>
            <a:srgbClr val="444444"/>
          </a:solidFill>
          <a:ln w="12700">
            <a:solidFill>
              <a:srgbClr val="444444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822960" y="2425032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8E8E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~</a:t>
            </a:r>
            <a:r>
              <a:rPr lang="bg-BG" sz="1200" dirty="0">
                <a:solidFill>
                  <a:srgbClr val="E8E8E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12</a:t>
            </a:r>
            <a:r>
              <a:rPr lang="en-US" sz="1200" dirty="0">
                <a:solidFill>
                  <a:srgbClr val="E8E8E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 млн. души световно не могат да говорят</a:t>
            </a:r>
            <a:r>
              <a:rPr lang="bg-BG" sz="1200" dirty="0">
                <a:solidFill>
                  <a:srgbClr val="E8E8E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, поради парализа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58368" y="3039336"/>
            <a:ext cx="64008" cy="64008"/>
          </a:xfrm>
          <a:prstGeom prst="ellipse">
            <a:avLst/>
          </a:prstGeom>
          <a:solidFill>
            <a:srgbClr val="444444"/>
          </a:solidFill>
          <a:ln w="12700">
            <a:solidFill>
              <a:srgbClr val="444444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822960" y="2948004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8E8E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Съществуващите решения са бавни и неинтуитивни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58368" y="3617064"/>
            <a:ext cx="64008" cy="64008"/>
          </a:xfrm>
          <a:prstGeom prst="ellipse">
            <a:avLst/>
          </a:prstGeom>
          <a:solidFill>
            <a:srgbClr val="444444"/>
          </a:solidFill>
          <a:ln w="12700">
            <a:solidFill>
              <a:srgbClr val="444444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828108" y="343476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8E8E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Без адаптиране към потребителя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663440" y="1737360"/>
            <a:ext cx="4023360" cy="2834640"/>
          </a:xfrm>
          <a:prstGeom prst="rect">
            <a:avLst/>
          </a:prstGeom>
          <a:solidFill>
            <a:srgbClr val="111111"/>
          </a:solidFill>
          <a:ln w="6350">
            <a:solidFill>
              <a:srgbClr val="333333"/>
            </a:solidFill>
            <a:prstDash val="solid"/>
          </a:ln>
          <a:effectLst>
            <a:outerShdw blurRad="254000" dist="50800" dir="81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4937760" y="187452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2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Настоящи решения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846320" y="2359152"/>
            <a:ext cx="3566160" cy="548640"/>
          </a:xfrm>
          <a:prstGeom prst="rect">
            <a:avLst/>
          </a:prstGeom>
          <a:solidFill>
            <a:srgbClr val="111111"/>
          </a:solidFill>
          <a:ln w="6350">
            <a:solidFill>
              <a:srgbClr val="333333"/>
            </a:solidFill>
            <a:prstDash val="solid"/>
          </a:ln>
          <a:effectLst>
            <a:outerShdw blurRad="254000" dist="50800" dir="81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5029200" y="2414016"/>
            <a:ext cx="1828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EZ Keys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029200" y="2660904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bg-BG" sz="1000" dirty="0">
                <a:solidFill>
                  <a:srgbClr val="6666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Старо и базово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846320" y="3054096"/>
            <a:ext cx="3566160" cy="548640"/>
          </a:xfrm>
          <a:prstGeom prst="rect">
            <a:avLst/>
          </a:prstGeom>
          <a:solidFill>
            <a:srgbClr val="111111"/>
          </a:solidFill>
          <a:ln w="6350">
            <a:solidFill>
              <a:srgbClr val="333333"/>
            </a:solidFill>
            <a:prstDash val="solid"/>
          </a:ln>
          <a:effectLst>
            <a:outerShdw blurRad="254000" dist="50800" dir="81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5029200" y="3108960"/>
            <a:ext cx="1828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ACAT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029200" y="3355848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bg-BG" sz="1000" dirty="0">
                <a:solidFill>
                  <a:srgbClr val="6666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Сложен </a:t>
            </a:r>
            <a:r>
              <a:rPr lang="en-US" sz="1000" dirty="0">
                <a:solidFill>
                  <a:srgbClr val="6666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UI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846320" y="3749040"/>
            <a:ext cx="3566160" cy="548640"/>
          </a:xfrm>
          <a:prstGeom prst="rect">
            <a:avLst/>
          </a:prstGeom>
          <a:solidFill>
            <a:srgbClr val="111111"/>
          </a:solidFill>
          <a:ln w="6350">
            <a:solidFill>
              <a:srgbClr val="333333"/>
            </a:solidFill>
            <a:prstDash val="solid"/>
          </a:ln>
          <a:effectLst>
            <a:outerShdw blurRad="254000" dist="50800" dir="81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5029200" y="3803904"/>
            <a:ext cx="1828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Eye Gaze Tech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029200" y="4050792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66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Само следи поглед</a:t>
            </a:r>
            <a:endParaRPr lang="en-US" sz="100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FA59303E-9570-49D0-48F5-75048F3AA28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73630" y="746849"/>
            <a:ext cx="4790458" cy="359605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80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AEA1F5F-F6BA-A35D-5F8F-B3C91FF31D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7BC654DC-6F95-C436-5BBD-10D8654DBE79}"/>
              </a:ext>
            </a:extLst>
          </p:cNvPr>
          <p:cNvSpPr/>
          <p:nvPr/>
        </p:nvSpPr>
        <p:spPr>
          <a:xfrm>
            <a:off x="411480" y="25603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6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VOXEN</a:t>
            </a:r>
            <a:endParaRPr lang="en-US" sz="9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3D713BFC-D261-59CF-F8EB-B05D585F3079}"/>
              </a:ext>
            </a:extLst>
          </p:cNvPr>
          <p:cNvSpPr/>
          <p:nvPr/>
        </p:nvSpPr>
        <p:spPr>
          <a:xfrm>
            <a:off x="-8446197" y="640080"/>
            <a:ext cx="4572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Проблемът</a:t>
            </a:r>
            <a:endParaRPr lang="en-US" sz="32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67CF11E2-3A78-0967-824D-B2DC103D71BE}"/>
              </a:ext>
            </a:extLst>
          </p:cNvPr>
          <p:cNvSpPr/>
          <p:nvPr/>
        </p:nvSpPr>
        <p:spPr>
          <a:xfrm>
            <a:off x="-8446197" y="1143000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6666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и настоящите решения</a:t>
            </a:r>
            <a:endParaRPr lang="en-US" sz="1800" dirty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EBECCA6B-E30D-681F-21EE-7CDA8E0517C7}"/>
              </a:ext>
            </a:extLst>
          </p:cNvPr>
          <p:cNvSpPr/>
          <p:nvPr/>
        </p:nvSpPr>
        <p:spPr>
          <a:xfrm>
            <a:off x="-8537637" y="1737360"/>
            <a:ext cx="3840480" cy="2834640"/>
          </a:xfrm>
          <a:prstGeom prst="rect">
            <a:avLst/>
          </a:prstGeom>
          <a:solidFill>
            <a:srgbClr val="111111"/>
          </a:solidFill>
          <a:ln w="6350">
            <a:solidFill>
              <a:srgbClr val="333333"/>
            </a:solidFill>
            <a:prstDash val="solid"/>
          </a:ln>
          <a:effectLst>
            <a:outerShdw blurRad="254000" dist="50800" dir="81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F68324D0-9DE4-36A8-377A-0F3FC30D1CB7}"/>
              </a:ext>
            </a:extLst>
          </p:cNvPr>
          <p:cNvSpPr/>
          <p:nvPr/>
        </p:nvSpPr>
        <p:spPr>
          <a:xfrm>
            <a:off x="-8263317" y="187452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2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Проблемът</a:t>
            </a:r>
            <a:endParaRPr lang="en-US" sz="1100" dirty="0"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B9F69369-1216-A221-44DD-FC5DDB343ACD}"/>
              </a:ext>
            </a:extLst>
          </p:cNvPr>
          <p:cNvSpPr/>
          <p:nvPr/>
        </p:nvSpPr>
        <p:spPr>
          <a:xfrm>
            <a:off x="-8245029" y="2512872"/>
            <a:ext cx="64008" cy="64008"/>
          </a:xfrm>
          <a:prstGeom prst="ellipse">
            <a:avLst/>
          </a:prstGeom>
          <a:solidFill>
            <a:srgbClr val="444444"/>
          </a:solidFill>
          <a:ln w="12700">
            <a:solidFill>
              <a:srgbClr val="444444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1BACD1C4-DBE2-F6F8-8B2E-BFC87276F7D3}"/>
              </a:ext>
            </a:extLst>
          </p:cNvPr>
          <p:cNvSpPr/>
          <p:nvPr/>
        </p:nvSpPr>
        <p:spPr>
          <a:xfrm>
            <a:off x="-8080437" y="2425032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8E8E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~</a:t>
            </a:r>
            <a:r>
              <a:rPr lang="bg-BG" sz="1200" dirty="0">
                <a:solidFill>
                  <a:srgbClr val="E8E8E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12</a:t>
            </a:r>
            <a:r>
              <a:rPr lang="en-US" sz="1200" dirty="0">
                <a:solidFill>
                  <a:srgbClr val="E8E8E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 млн. души световно не могат да говорят</a:t>
            </a:r>
            <a:r>
              <a:rPr lang="bg-BG" sz="1200" dirty="0">
                <a:solidFill>
                  <a:srgbClr val="E8E8E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, поради парализа</a:t>
            </a:r>
            <a:endParaRPr lang="en-US" sz="1200" dirty="0"/>
          </a:p>
        </p:txBody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4DCDBE0D-9700-60FB-34E9-F44B0DFB1FA5}"/>
              </a:ext>
            </a:extLst>
          </p:cNvPr>
          <p:cNvSpPr/>
          <p:nvPr/>
        </p:nvSpPr>
        <p:spPr>
          <a:xfrm>
            <a:off x="-8245029" y="3039336"/>
            <a:ext cx="64008" cy="64008"/>
          </a:xfrm>
          <a:prstGeom prst="ellipse">
            <a:avLst/>
          </a:prstGeom>
          <a:solidFill>
            <a:srgbClr val="444444"/>
          </a:solidFill>
          <a:ln w="12700">
            <a:solidFill>
              <a:srgbClr val="444444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7A02A776-2881-B2A1-D933-6A60AB3E7C0A}"/>
              </a:ext>
            </a:extLst>
          </p:cNvPr>
          <p:cNvSpPr/>
          <p:nvPr/>
        </p:nvSpPr>
        <p:spPr>
          <a:xfrm>
            <a:off x="-8080437" y="2948004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8E8E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Съществуващите решения са бавни и неинтуитивни</a:t>
            </a:r>
            <a:endParaRPr lang="en-US" sz="1200" dirty="0"/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73A1CA7F-6671-F95D-CD4D-4C92F44391D8}"/>
              </a:ext>
            </a:extLst>
          </p:cNvPr>
          <p:cNvSpPr/>
          <p:nvPr/>
        </p:nvSpPr>
        <p:spPr>
          <a:xfrm>
            <a:off x="-8245029" y="3617064"/>
            <a:ext cx="64008" cy="64008"/>
          </a:xfrm>
          <a:prstGeom prst="ellipse">
            <a:avLst/>
          </a:prstGeom>
          <a:solidFill>
            <a:srgbClr val="444444"/>
          </a:solidFill>
          <a:ln w="12700">
            <a:solidFill>
              <a:srgbClr val="444444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87ADF75D-9914-1896-CB52-541DA0579467}"/>
              </a:ext>
            </a:extLst>
          </p:cNvPr>
          <p:cNvSpPr/>
          <p:nvPr/>
        </p:nvSpPr>
        <p:spPr>
          <a:xfrm>
            <a:off x="-8075289" y="343476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8E8E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Без адаптиране към потребителя</a:t>
            </a:r>
            <a:endParaRPr lang="en-US" sz="1200" dirty="0"/>
          </a:p>
        </p:txBody>
      </p:sp>
      <p:sp>
        <p:nvSpPr>
          <p:cNvPr id="15" name="Shape 13">
            <a:extLst>
              <a:ext uri="{FF2B5EF4-FFF2-40B4-BE49-F238E27FC236}">
                <a16:creationId xmlns:a16="http://schemas.microsoft.com/office/drawing/2014/main" id="{29BD7A33-2073-F695-6A9F-201B42867C4D}"/>
              </a:ext>
            </a:extLst>
          </p:cNvPr>
          <p:cNvSpPr/>
          <p:nvPr/>
        </p:nvSpPr>
        <p:spPr>
          <a:xfrm>
            <a:off x="-4239957" y="1737360"/>
            <a:ext cx="4023360" cy="2834640"/>
          </a:xfrm>
          <a:prstGeom prst="rect">
            <a:avLst/>
          </a:prstGeom>
          <a:solidFill>
            <a:srgbClr val="111111"/>
          </a:solidFill>
          <a:ln w="6350">
            <a:solidFill>
              <a:srgbClr val="333333"/>
            </a:solidFill>
            <a:prstDash val="solid"/>
          </a:ln>
          <a:effectLst>
            <a:outerShdw blurRad="254000" dist="50800" dir="81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A61B765C-0CB2-9085-58A8-3F128AEC7036}"/>
              </a:ext>
            </a:extLst>
          </p:cNvPr>
          <p:cNvSpPr/>
          <p:nvPr/>
        </p:nvSpPr>
        <p:spPr>
          <a:xfrm>
            <a:off x="-3965637" y="187452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2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Настоящи решения</a:t>
            </a:r>
            <a:endParaRPr lang="en-US" sz="1100" dirty="0"/>
          </a:p>
        </p:txBody>
      </p:sp>
      <p:sp>
        <p:nvSpPr>
          <p:cNvPr id="17" name="Shape 15">
            <a:extLst>
              <a:ext uri="{FF2B5EF4-FFF2-40B4-BE49-F238E27FC236}">
                <a16:creationId xmlns:a16="http://schemas.microsoft.com/office/drawing/2014/main" id="{0BFA4648-58F1-E68C-6FDB-CEAB9F01142B}"/>
              </a:ext>
            </a:extLst>
          </p:cNvPr>
          <p:cNvSpPr/>
          <p:nvPr/>
        </p:nvSpPr>
        <p:spPr>
          <a:xfrm>
            <a:off x="-4057077" y="2359152"/>
            <a:ext cx="3566160" cy="548640"/>
          </a:xfrm>
          <a:prstGeom prst="rect">
            <a:avLst/>
          </a:prstGeom>
          <a:solidFill>
            <a:srgbClr val="111111"/>
          </a:solidFill>
          <a:ln w="6350">
            <a:solidFill>
              <a:srgbClr val="333333"/>
            </a:solidFill>
            <a:prstDash val="solid"/>
          </a:ln>
          <a:effectLst>
            <a:outerShdw blurRad="254000" dist="50800" dir="81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4EC7AFF6-B200-FFF7-C8FF-C7B3375A1276}"/>
              </a:ext>
            </a:extLst>
          </p:cNvPr>
          <p:cNvSpPr/>
          <p:nvPr/>
        </p:nvSpPr>
        <p:spPr>
          <a:xfrm>
            <a:off x="-3874197" y="2414016"/>
            <a:ext cx="1828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EZ Keys</a:t>
            </a:r>
            <a:endParaRPr lang="en-US" sz="1200" dirty="0"/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6767446E-8E53-526A-447B-E4AAC11B33D9}"/>
              </a:ext>
            </a:extLst>
          </p:cNvPr>
          <p:cNvSpPr/>
          <p:nvPr/>
        </p:nvSpPr>
        <p:spPr>
          <a:xfrm>
            <a:off x="-3874197" y="2660904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bg-BG" sz="1000" dirty="0">
                <a:solidFill>
                  <a:srgbClr val="6666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Старо и базово</a:t>
            </a:r>
            <a:endParaRPr lang="en-US" sz="1000" dirty="0"/>
          </a:p>
        </p:txBody>
      </p:sp>
      <p:sp>
        <p:nvSpPr>
          <p:cNvPr id="20" name="Shape 18">
            <a:extLst>
              <a:ext uri="{FF2B5EF4-FFF2-40B4-BE49-F238E27FC236}">
                <a16:creationId xmlns:a16="http://schemas.microsoft.com/office/drawing/2014/main" id="{DB33A7B2-CCBE-328A-B982-1E76CDB3B53A}"/>
              </a:ext>
            </a:extLst>
          </p:cNvPr>
          <p:cNvSpPr/>
          <p:nvPr/>
        </p:nvSpPr>
        <p:spPr>
          <a:xfrm>
            <a:off x="-4057077" y="3054096"/>
            <a:ext cx="3566160" cy="548640"/>
          </a:xfrm>
          <a:prstGeom prst="rect">
            <a:avLst/>
          </a:prstGeom>
          <a:solidFill>
            <a:srgbClr val="111111"/>
          </a:solidFill>
          <a:ln w="6350">
            <a:solidFill>
              <a:srgbClr val="333333"/>
            </a:solidFill>
            <a:prstDash val="solid"/>
          </a:ln>
          <a:effectLst>
            <a:outerShdw blurRad="254000" dist="50800" dir="81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D05D97AA-9302-492A-80D8-2D8F5780D34F}"/>
              </a:ext>
            </a:extLst>
          </p:cNvPr>
          <p:cNvSpPr/>
          <p:nvPr/>
        </p:nvSpPr>
        <p:spPr>
          <a:xfrm>
            <a:off x="-3874197" y="3108960"/>
            <a:ext cx="1828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ACAT</a:t>
            </a:r>
            <a:endParaRPr lang="en-US" sz="1200" dirty="0"/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FB4A03B5-0884-D4A8-D98D-AAC003DA01AA}"/>
              </a:ext>
            </a:extLst>
          </p:cNvPr>
          <p:cNvSpPr/>
          <p:nvPr/>
        </p:nvSpPr>
        <p:spPr>
          <a:xfrm>
            <a:off x="-3874197" y="3355848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bg-BG" sz="1000" dirty="0">
                <a:solidFill>
                  <a:srgbClr val="6666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Сложен </a:t>
            </a:r>
            <a:r>
              <a:rPr lang="en-US" sz="1000" dirty="0">
                <a:solidFill>
                  <a:srgbClr val="6666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UI</a:t>
            </a:r>
            <a:endParaRPr lang="en-US" sz="1000" dirty="0"/>
          </a:p>
        </p:txBody>
      </p:sp>
      <p:sp>
        <p:nvSpPr>
          <p:cNvPr id="23" name="Shape 21">
            <a:extLst>
              <a:ext uri="{FF2B5EF4-FFF2-40B4-BE49-F238E27FC236}">
                <a16:creationId xmlns:a16="http://schemas.microsoft.com/office/drawing/2014/main" id="{08F57BF9-95C5-6DBF-4847-C0CB8590A1B9}"/>
              </a:ext>
            </a:extLst>
          </p:cNvPr>
          <p:cNvSpPr/>
          <p:nvPr/>
        </p:nvSpPr>
        <p:spPr>
          <a:xfrm>
            <a:off x="-4057077" y="3749040"/>
            <a:ext cx="3566160" cy="548640"/>
          </a:xfrm>
          <a:prstGeom prst="rect">
            <a:avLst/>
          </a:prstGeom>
          <a:solidFill>
            <a:srgbClr val="111111"/>
          </a:solidFill>
          <a:ln w="6350">
            <a:solidFill>
              <a:srgbClr val="333333"/>
            </a:solidFill>
            <a:prstDash val="solid"/>
          </a:ln>
          <a:effectLst>
            <a:outerShdw blurRad="254000" dist="50800" dir="81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A896EF05-B46B-904D-FEE1-A4F177F651B3}"/>
              </a:ext>
            </a:extLst>
          </p:cNvPr>
          <p:cNvSpPr/>
          <p:nvPr/>
        </p:nvSpPr>
        <p:spPr>
          <a:xfrm>
            <a:off x="-3874197" y="3803904"/>
            <a:ext cx="1828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Eye Gaze Tech</a:t>
            </a:r>
            <a:endParaRPr lang="en-US" sz="1200" dirty="0"/>
          </a:p>
        </p:txBody>
      </p:sp>
      <p:sp>
        <p:nvSpPr>
          <p:cNvPr id="25" name="Text 23">
            <a:extLst>
              <a:ext uri="{FF2B5EF4-FFF2-40B4-BE49-F238E27FC236}">
                <a16:creationId xmlns:a16="http://schemas.microsoft.com/office/drawing/2014/main" id="{28EDCA36-3F89-C356-07D5-347642FFFC6E}"/>
              </a:ext>
            </a:extLst>
          </p:cNvPr>
          <p:cNvSpPr/>
          <p:nvPr/>
        </p:nvSpPr>
        <p:spPr>
          <a:xfrm>
            <a:off x="-3874197" y="4050792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66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Само следи поглед</a:t>
            </a:r>
            <a:endParaRPr lang="en-US" sz="100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94B8934-904A-A00E-45BD-FFD445EFDCD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76771" y="832745"/>
            <a:ext cx="4790458" cy="35960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873691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80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CFA7115-C38E-54CB-2251-53AF4C852D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4E3381B1-5B9F-0283-D982-707CD9317752}"/>
              </a:ext>
            </a:extLst>
          </p:cNvPr>
          <p:cNvSpPr/>
          <p:nvPr/>
        </p:nvSpPr>
        <p:spPr>
          <a:xfrm>
            <a:off x="411480" y="25603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6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VOXEN</a:t>
            </a:r>
            <a:endParaRPr lang="en-US" sz="9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ABF116BF-7BBC-2A15-6FD6-6FFA70A5F7C8}"/>
              </a:ext>
            </a:extLst>
          </p:cNvPr>
          <p:cNvSpPr/>
          <p:nvPr/>
        </p:nvSpPr>
        <p:spPr>
          <a:xfrm>
            <a:off x="457200" y="640080"/>
            <a:ext cx="4572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Проблемът</a:t>
            </a:r>
            <a:endParaRPr lang="en-US" sz="32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D6B55B2A-EF71-D3B7-227C-EA62FBA07395}"/>
              </a:ext>
            </a:extLst>
          </p:cNvPr>
          <p:cNvSpPr/>
          <p:nvPr/>
        </p:nvSpPr>
        <p:spPr>
          <a:xfrm>
            <a:off x="457200" y="1143000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6666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и настоящите решения</a:t>
            </a:r>
            <a:endParaRPr lang="en-US" sz="1800" dirty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BF5958CE-F871-0478-F3C2-1D241F64B44F}"/>
              </a:ext>
            </a:extLst>
          </p:cNvPr>
          <p:cNvSpPr/>
          <p:nvPr/>
        </p:nvSpPr>
        <p:spPr>
          <a:xfrm>
            <a:off x="365760" y="1737360"/>
            <a:ext cx="3840480" cy="2834640"/>
          </a:xfrm>
          <a:prstGeom prst="rect">
            <a:avLst/>
          </a:prstGeom>
          <a:solidFill>
            <a:srgbClr val="111111"/>
          </a:solidFill>
          <a:ln w="6350">
            <a:solidFill>
              <a:srgbClr val="333333"/>
            </a:solidFill>
            <a:prstDash val="solid"/>
          </a:ln>
          <a:effectLst>
            <a:outerShdw blurRad="254000" dist="50800" dir="81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601538B1-B352-DF0B-F755-49E0B66D2D02}"/>
              </a:ext>
            </a:extLst>
          </p:cNvPr>
          <p:cNvSpPr/>
          <p:nvPr/>
        </p:nvSpPr>
        <p:spPr>
          <a:xfrm>
            <a:off x="640080" y="187452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2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Проблемът</a:t>
            </a:r>
            <a:endParaRPr lang="en-US" sz="1100" dirty="0"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054304A8-7557-1D2B-7670-620ACA77DACA}"/>
              </a:ext>
            </a:extLst>
          </p:cNvPr>
          <p:cNvSpPr/>
          <p:nvPr/>
        </p:nvSpPr>
        <p:spPr>
          <a:xfrm>
            <a:off x="658368" y="2512872"/>
            <a:ext cx="64008" cy="64008"/>
          </a:xfrm>
          <a:prstGeom prst="ellipse">
            <a:avLst/>
          </a:prstGeom>
          <a:solidFill>
            <a:srgbClr val="444444"/>
          </a:solidFill>
          <a:ln w="12700">
            <a:solidFill>
              <a:srgbClr val="444444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0113AA9D-DC83-3ABB-D275-6406012E40DB}"/>
              </a:ext>
            </a:extLst>
          </p:cNvPr>
          <p:cNvSpPr/>
          <p:nvPr/>
        </p:nvSpPr>
        <p:spPr>
          <a:xfrm>
            <a:off x="822960" y="2425032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8E8E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~</a:t>
            </a:r>
            <a:r>
              <a:rPr lang="bg-BG" sz="1200" dirty="0">
                <a:solidFill>
                  <a:srgbClr val="E8E8E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12</a:t>
            </a:r>
            <a:r>
              <a:rPr lang="en-US" sz="1200" dirty="0">
                <a:solidFill>
                  <a:srgbClr val="E8E8E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 млн. души световно не могат да говорят</a:t>
            </a:r>
            <a:r>
              <a:rPr lang="bg-BG" sz="1200" dirty="0">
                <a:solidFill>
                  <a:srgbClr val="E8E8E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, поради парализа</a:t>
            </a:r>
            <a:endParaRPr lang="en-US" sz="1200" dirty="0"/>
          </a:p>
        </p:txBody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521AD508-0451-30D6-46B7-FCE4E410FD4F}"/>
              </a:ext>
            </a:extLst>
          </p:cNvPr>
          <p:cNvSpPr/>
          <p:nvPr/>
        </p:nvSpPr>
        <p:spPr>
          <a:xfrm>
            <a:off x="658368" y="3039336"/>
            <a:ext cx="64008" cy="64008"/>
          </a:xfrm>
          <a:prstGeom prst="ellipse">
            <a:avLst/>
          </a:prstGeom>
          <a:solidFill>
            <a:srgbClr val="444444"/>
          </a:solidFill>
          <a:ln w="12700">
            <a:solidFill>
              <a:srgbClr val="444444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19464CD3-EAA9-64D7-59A2-9A4C6F612F9A}"/>
              </a:ext>
            </a:extLst>
          </p:cNvPr>
          <p:cNvSpPr/>
          <p:nvPr/>
        </p:nvSpPr>
        <p:spPr>
          <a:xfrm>
            <a:off x="822960" y="2948004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8E8E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Съществуващите решения са бавни и неинтуитивни</a:t>
            </a:r>
            <a:endParaRPr lang="en-US" sz="1200" dirty="0"/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1006812F-89CC-F2A2-3426-3CDB10E6A29F}"/>
              </a:ext>
            </a:extLst>
          </p:cNvPr>
          <p:cNvSpPr/>
          <p:nvPr/>
        </p:nvSpPr>
        <p:spPr>
          <a:xfrm>
            <a:off x="658368" y="3617064"/>
            <a:ext cx="64008" cy="64008"/>
          </a:xfrm>
          <a:prstGeom prst="ellipse">
            <a:avLst/>
          </a:prstGeom>
          <a:solidFill>
            <a:srgbClr val="444444"/>
          </a:solidFill>
          <a:ln w="12700">
            <a:solidFill>
              <a:srgbClr val="444444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7E73C716-FD97-470E-BE91-50CC4858D726}"/>
              </a:ext>
            </a:extLst>
          </p:cNvPr>
          <p:cNvSpPr/>
          <p:nvPr/>
        </p:nvSpPr>
        <p:spPr>
          <a:xfrm>
            <a:off x="828108" y="343476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8E8E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Без адаптиране към потребителя</a:t>
            </a:r>
            <a:endParaRPr lang="en-US" sz="1200" dirty="0"/>
          </a:p>
        </p:txBody>
      </p:sp>
      <p:sp>
        <p:nvSpPr>
          <p:cNvPr id="15" name="Shape 13">
            <a:extLst>
              <a:ext uri="{FF2B5EF4-FFF2-40B4-BE49-F238E27FC236}">
                <a16:creationId xmlns:a16="http://schemas.microsoft.com/office/drawing/2014/main" id="{2BA8BCDC-0C53-5D57-D29A-75C59B68C286}"/>
              </a:ext>
            </a:extLst>
          </p:cNvPr>
          <p:cNvSpPr/>
          <p:nvPr/>
        </p:nvSpPr>
        <p:spPr>
          <a:xfrm>
            <a:off x="4663440" y="1737360"/>
            <a:ext cx="4023360" cy="2834640"/>
          </a:xfrm>
          <a:prstGeom prst="rect">
            <a:avLst/>
          </a:prstGeom>
          <a:solidFill>
            <a:srgbClr val="111111"/>
          </a:solidFill>
          <a:ln w="6350">
            <a:solidFill>
              <a:srgbClr val="333333"/>
            </a:solidFill>
            <a:prstDash val="solid"/>
          </a:ln>
          <a:effectLst>
            <a:outerShdw blurRad="254000" dist="50800" dir="81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B2848E2D-BF16-C66C-98C2-0B25C5BF3C85}"/>
              </a:ext>
            </a:extLst>
          </p:cNvPr>
          <p:cNvSpPr/>
          <p:nvPr/>
        </p:nvSpPr>
        <p:spPr>
          <a:xfrm>
            <a:off x="4937760" y="187452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2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Настоящи решения</a:t>
            </a:r>
            <a:endParaRPr lang="en-US" sz="1100" dirty="0"/>
          </a:p>
        </p:txBody>
      </p:sp>
      <p:sp>
        <p:nvSpPr>
          <p:cNvPr id="17" name="Shape 15">
            <a:extLst>
              <a:ext uri="{FF2B5EF4-FFF2-40B4-BE49-F238E27FC236}">
                <a16:creationId xmlns:a16="http://schemas.microsoft.com/office/drawing/2014/main" id="{83B4144B-5BBC-F7B6-A197-44AF82AC6436}"/>
              </a:ext>
            </a:extLst>
          </p:cNvPr>
          <p:cNvSpPr/>
          <p:nvPr/>
        </p:nvSpPr>
        <p:spPr>
          <a:xfrm>
            <a:off x="4846320" y="2359152"/>
            <a:ext cx="3566160" cy="548640"/>
          </a:xfrm>
          <a:prstGeom prst="rect">
            <a:avLst/>
          </a:prstGeom>
          <a:solidFill>
            <a:srgbClr val="111111"/>
          </a:solidFill>
          <a:ln w="6350">
            <a:solidFill>
              <a:srgbClr val="333333"/>
            </a:solidFill>
            <a:prstDash val="solid"/>
          </a:ln>
          <a:effectLst>
            <a:outerShdw blurRad="254000" dist="50800" dir="81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91E13302-2C4B-71CC-DE84-79A812F3EF2D}"/>
              </a:ext>
            </a:extLst>
          </p:cNvPr>
          <p:cNvSpPr/>
          <p:nvPr/>
        </p:nvSpPr>
        <p:spPr>
          <a:xfrm>
            <a:off x="5029200" y="2414016"/>
            <a:ext cx="1828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EZ Keys</a:t>
            </a:r>
            <a:endParaRPr lang="en-US" sz="1200" dirty="0"/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BCA20689-F152-862D-2911-D49604D673F2}"/>
              </a:ext>
            </a:extLst>
          </p:cNvPr>
          <p:cNvSpPr/>
          <p:nvPr/>
        </p:nvSpPr>
        <p:spPr>
          <a:xfrm>
            <a:off x="5029200" y="2660904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bg-BG" sz="1000" dirty="0">
                <a:solidFill>
                  <a:srgbClr val="6666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Старо и базово</a:t>
            </a:r>
            <a:endParaRPr lang="en-US" sz="1000" dirty="0"/>
          </a:p>
        </p:txBody>
      </p:sp>
      <p:sp>
        <p:nvSpPr>
          <p:cNvPr id="20" name="Shape 18">
            <a:extLst>
              <a:ext uri="{FF2B5EF4-FFF2-40B4-BE49-F238E27FC236}">
                <a16:creationId xmlns:a16="http://schemas.microsoft.com/office/drawing/2014/main" id="{515B55CD-2D0A-E215-596F-348FFC6C1DD4}"/>
              </a:ext>
            </a:extLst>
          </p:cNvPr>
          <p:cNvSpPr/>
          <p:nvPr/>
        </p:nvSpPr>
        <p:spPr>
          <a:xfrm>
            <a:off x="4846320" y="3054096"/>
            <a:ext cx="3566160" cy="548640"/>
          </a:xfrm>
          <a:prstGeom prst="rect">
            <a:avLst/>
          </a:prstGeom>
          <a:solidFill>
            <a:srgbClr val="111111"/>
          </a:solidFill>
          <a:ln w="6350">
            <a:solidFill>
              <a:srgbClr val="333333"/>
            </a:solidFill>
            <a:prstDash val="solid"/>
          </a:ln>
          <a:effectLst>
            <a:outerShdw blurRad="254000" dist="50800" dir="81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284AEC37-D1A6-2596-B577-1FBF8BE74CB9}"/>
              </a:ext>
            </a:extLst>
          </p:cNvPr>
          <p:cNvSpPr/>
          <p:nvPr/>
        </p:nvSpPr>
        <p:spPr>
          <a:xfrm>
            <a:off x="5029200" y="3108960"/>
            <a:ext cx="1828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ACAT</a:t>
            </a:r>
            <a:endParaRPr lang="en-US" sz="1200" dirty="0"/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9FDB2131-384C-41B9-D4BC-FDF626C80741}"/>
              </a:ext>
            </a:extLst>
          </p:cNvPr>
          <p:cNvSpPr/>
          <p:nvPr/>
        </p:nvSpPr>
        <p:spPr>
          <a:xfrm>
            <a:off x="5029200" y="3355848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bg-BG" sz="1000" dirty="0">
                <a:solidFill>
                  <a:srgbClr val="6666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Сложен </a:t>
            </a:r>
            <a:r>
              <a:rPr lang="en-US" sz="1000" dirty="0">
                <a:solidFill>
                  <a:srgbClr val="6666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UI</a:t>
            </a:r>
            <a:endParaRPr lang="en-US" sz="1000" dirty="0"/>
          </a:p>
        </p:txBody>
      </p:sp>
      <p:sp>
        <p:nvSpPr>
          <p:cNvPr id="23" name="Shape 21">
            <a:extLst>
              <a:ext uri="{FF2B5EF4-FFF2-40B4-BE49-F238E27FC236}">
                <a16:creationId xmlns:a16="http://schemas.microsoft.com/office/drawing/2014/main" id="{474B0B20-F99B-8674-16EE-EE1A631116FF}"/>
              </a:ext>
            </a:extLst>
          </p:cNvPr>
          <p:cNvSpPr/>
          <p:nvPr/>
        </p:nvSpPr>
        <p:spPr>
          <a:xfrm>
            <a:off x="4846320" y="3749040"/>
            <a:ext cx="3566160" cy="548640"/>
          </a:xfrm>
          <a:prstGeom prst="rect">
            <a:avLst/>
          </a:prstGeom>
          <a:solidFill>
            <a:srgbClr val="111111"/>
          </a:solidFill>
          <a:ln w="6350">
            <a:solidFill>
              <a:srgbClr val="333333"/>
            </a:solidFill>
            <a:prstDash val="solid"/>
          </a:ln>
          <a:effectLst>
            <a:outerShdw blurRad="254000" dist="50800" dir="81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CCBE9BB6-CEAE-A6B7-99DA-5DBEEE4430B2}"/>
              </a:ext>
            </a:extLst>
          </p:cNvPr>
          <p:cNvSpPr/>
          <p:nvPr/>
        </p:nvSpPr>
        <p:spPr>
          <a:xfrm>
            <a:off x="5029200" y="3803904"/>
            <a:ext cx="1828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Eye Gaze Tech</a:t>
            </a:r>
            <a:endParaRPr lang="en-US" sz="1200" dirty="0"/>
          </a:p>
        </p:txBody>
      </p:sp>
      <p:sp>
        <p:nvSpPr>
          <p:cNvPr id="25" name="Text 23">
            <a:extLst>
              <a:ext uri="{FF2B5EF4-FFF2-40B4-BE49-F238E27FC236}">
                <a16:creationId xmlns:a16="http://schemas.microsoft.com/office/drawing/2014/main" id="{A13CF199-B2CB-8555-16A5-CCAD8E451C40}"/>
              </a:ext>
            </a:extLst>
          </p:cNvPr>
          <p:cNvSpPr/>
          <p:nvPr/>
        </p:nvSpPr>
        <p:spPr>
          <a:xfrm>
            <a:off x="5029200" y="4050792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66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Само следи поглед</a:t>
            </a:r>
            <a:endParaRPr lang="en-US" sz="100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86A026A9-CD76-F232-5735-55656ADD8BD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73630" y="746849"/>
            <a:ext cx="4790458" cy="3596054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7663FB2F-4D08-BAB2-3EF0-4D08747FE55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6591962" y="1047655"/>
            <a:ext cx="6256272" cy="3427666"/>
          </a:xfrm>
          <a:prstGeom prst="rect">
            <a:avLst/>
          </a:prstGeom>
        </p:spPr>
      </p:pic>
      <p:sp>
        <p:nvSpPr>
          <p:cNvPr id="28" name="Shape 11">
            <a:extLst>
              <a:ext uri="{FF2B5EF4-FFF2-40B4-BE49-F238E27FC236}">
                <a16:creationId xmlns:a16="http://schemas.microsoft.com/office/drawing/2014/main" id="{FC6A8903-946A-4779-9FC2-EEEEC034595A}"/>
              </a:ext>
            </a:extLst>
          </p:cNvPr>
          <p:cNvSpPr/>
          <p:nvPr/>
        </p:nvSpPr>
        <p:spPr>
          <a:xfrm>
            <a:off x="658368" y="4113727"/>
            <a:ext cx="64008" cy="64008"/>
          </a:xfrm>
          <a:prstGeom prst="ellipse">
            <a:avLst/>
          </a:prstGeom>
          <a:solidFill>
            <a:srgbClr val="444444"/>
          </a:solidFill>
          <a:ln w="12700">
            <a:solidFill>
              <a:srgbClr val="444444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29" name="Text 12">
            <a:extLst>
              <a:ext uri="{FF2B5EF4-FFF2-40B4-BE49-F238E27FC236}">
                <a16:creationId xmlns:a16="http://schemas.microsoft.com/office/drawing/2014/main" id="{D4C985DB-8605-4785-8C26-F2E9F0E7CD2E}"/>
              </a:ext>
            </a:extLst>
          </p:cNvPr>
          <p:cNvSpPr/>
          <p:nvPr/>
        </p:nvSpPr>
        <p:spPr>
          <a:xfrm>
            <a:off x="828108" y="3931423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bg-BG" sz="1200" dirty="0">
                <a:solidFill>
                  <a:srgbClr val="E8E8E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Един вход е изтощаващ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10481647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80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2917A24-2FEB-B51B-99B4-947EE5130D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3F9038F4-144A-0C8D-1D25-8B7636AA472B}"/>
              </a:ext>
            </a:extLst>
          </p:cNvPr>
          <p:cNvSpPr/>
          <p:nvPr/>
        </p:nvSpPr>
        <p:spPr>
          <a:xfrm>
            <a:off x="411480" y="25603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6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VOXEN</a:t>
            </a:r>
            <a:endParaRPr lang="en-US" sz="90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8A7A099A-DD26-F3CD-8D11-6B1A359DF1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67918" y="746849"/>
            <a:ext cx="4790458" cy="3596054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5913123E-2E2E-D90B-818B-F45C9ED5C87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41437" y="1047655"/>
            <a:ext cx="6256272" cy="3427666"/>
          </a:xfrm>
          <a:prstGeom prst="rect">
            <a:avLst/>
          </a:prstGeom>
        </p:spPr>
      </p:pic>
      <p:sp>
        <p:nvSpPr>
          <p:cNvPr id="37" name="Text 1">
            <a:extLst>
              <a:ext uri="{FF2B5EF4-FFF2-40B4-BE49-F238E27FC236}">
                <a16:creationId xmlns:a16="http://schemas.microsoft.com/office/drawing/2014/main" id="{8D65C448-0E91-47FB-5922-AA166A922A62}"/>
              </a:ext>
            </a:extLst>
          </p:cNvPr>
          <p:cNvSpPr/>
          <p:nvPr/>
        </p:nvSpPr>
        <p:spPr>
          <a:xfrm>
            <a:off x="10072868" y="64008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Цел на проекта</a:t>
            </a:r>
            <a:endParaRPr lang="en-US" sz="3200" dirty="0"/>
          </a:p>
        </p:txBody>
      </p:sp>
      <p:sp>
        <p:nvSpPr>
          <p:cNvPr id="38" name="Shape 2">
            <a:extLst>
              <a:ext uri="{FF2B5EF4-FFF2-40B4-BE49-F238E27FC236}">
                <a16:creationId xmlns:a16="http://schemas.microsoft.com/office/drawing/2014/main" id="{285C9133-8C05-91C4-DC93-ACDE6075A50A}"/>
              </a:ext>
            </a:extLst>
          </p:cNvPr>
          <p:cNvSpPr/>
          <p:nvPr/>
        </p:nvSpPr>
        <p:spPr>
          <a:xfrm>
            <a:off x="9981428" y="1463040"/>
            <a:ext cx="8412480" cy="1371600"/>
          </a:xfrm>
          <a:prstGeom prst="rect">
            <a:avLst/>
          </a:prstGeom>
          <a:solidFill>
            <a:srgbClr val="111111"/>
          </a:solidFill>
          <a:ln w="6350">
            <a:solidFill>
              <a:srgbClr val="333333"/>
            </a:solidFill>
            <a:prstDash val="solid"/>
          </a:ln>
          <a:effectLst>
            <a:outerShdw blurRad="254000" dist="50800" dir="81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39" name="Text 3">
            <a:extLst>
              <a:ext uri="{FF2B5EF4-FFF2-40B4-BE49-F238E27FC236}">
                <a16:creationId xmlns:a16="http://schemas.microsoft.com/office/drawing/2014/main" id="{DC49939B-6745-2DA5-2DF6-85B49875826E}"/>
              </a:ext>
            </a:extLst>
          </p:cNvPr>
          <p:cNvSpPr/>
          <p:nvPr/>
        </p:nvSpPr>
        <p:spPr>
          <a:xfrm>
            <a:off x="10347188" y="1600200"/>
            <a:ext cx="76809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Достъпна, бърза и персонализирана комуникация</a:t>
            </a:r>
            <a:endParaRPr lang="en-US" sz="1800" dirty="0"/>
          </a:p>
          <a:p>
            <a:pPr marL="0" indent="0" algn="ctr">
              <a:buNone/>
            </a:pPr>
            <a:r>
              <a:rPr lang="en-US" sz="1800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за хора с двигателни увреждания - навсякъде.</a:t>
            </a:r>
            <a:endParaRPr lang="en-US" sz="1800" dirty="0"/>
          </a:p>
        </p:txBody>
      </p:sp>
      <p:sp>
        <p:nvSpPr>
          <p:cNvPr id="40" name="Shape 4">
            <a:extLst>
              <a:ext uri="{FF2B5EF4-FFF2-40B4-BE49-F238E27FC236}">
                <a16:creationId xmlns:a16="http://schemas.microsoft.com/office/drawing/2014/main" id="{B2367614-0718-E36E-50F1-F2A5F68EFB60}"/>
              </a:ext>
            </a:extLst>
          </p:cNvPr>
          <p:cNvSpPr/>
          <p:nvPr/>
        </p:nvSpPr>
        <p:spPr>
          <a:xfrm>
            <a:off x="9981428" y="3017520"/>
            <a:ext cx="2651760" cy="1737360"/>
          </a:xfrm>
          <a:prstGeom prst="rect">
            <a:avLst/>
          </a:prstGeom>
          <a:solidFill>
            <a:srgbClr val="111111"/>
          </a:solidFill>
          <a:ln w="6350">
            <a:solidFill>
              <a:srgbClr val="333333"/>
            </a:solidFill>
            <a:prstDash val="solid"/>
          </a:ln>
          <a:effectLst>
            <a:outerShdw blurRad="254000" dist="50800" dir="81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41" name="Text 5">
            <a:extLst>
              <a:ext uri="{FF2B5EF4-FFF2-40B4-BE49-F238E27FC236}">
                <a16:creationId xmlns:a16="http://schemas.microsoft.com/office/drawing/2014/main" id="{AE1F7EB4-AD14-0F41-34E9-9909C9B4EF9C}"/>
              </a:ext>
            </a:extLst>
          </p:cNvPr>
          <p:cNvSpPr/>
          <p:nvPr/>
        </p:nvSpPr>
        <p:spPr>
          <a:xfrm>
            <a:off x="10164308" y="320040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Достъпност</a:t>
            </a:r>
            <a:endParaRPr lang="en-US" sz="1400" dirty="0"/>
          </a:p>
        </p:txBody>
      </p:sp>
      <p:sp>
        <p:nvSpPr>
          <p:cNvPr id="42" name="Text 6">
            <a:extLst>
              <a:ext uri="{FF2B5EF4-FFF2-40B4-BE49-F238E27FC236}">
                <a16:creationId xmlns:a16="http://schemas.microsoft.com/office/drawing/2014/main" id="{E336172E-0B39-413C-F77F-700DF0C94C5A}"/>
              </a:ext>
            </a:extLst>
          </p:cNvPr>
          <p:cNvSpPr/>
          <p:nvPr/>
        </p:nvSpPr>
        <p:spPr>
          <a:xfrm>
            <a:off x="10164308" y="365760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666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Low-cost hardware,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6666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open source software</a:t>
            </a:r>
            <a:endParaRPr lang="en-US" sz="1100" dirty="0"/>
          </a:p>
        </p:txBody>
      </p:sp>
      <p:sp>
        <p:nvSpPr>
          <p:cNvPr id="43" name="Shape 7">
            <a:extLst>
              <a:ext uri="{FF2B5EF4-FFF2-40B4-BE49-F238E27FC236}">
                <a16:creationId xmlns:a16="http://schemas.microsoft.com/office/drawing/2014/main" id="{9799105C-F20B-44D6-80B3-376F4BF06227}"/>
              </a:ext>
            </a:extLst>
          </p:cNvPr>
          <p:cNvSpPr/>
          <p:nvPr/>
        </p:nvSpPr>
        <p:spPr>
          <a:xfrm>
            <a:off x="12843500" y="3017520"/>
            <a:ext cx="2651760" cy="1737360"/>
          </a:xfrm>
          <a:prstGeom prst="rect">
            <a:avLst/>
          </a:prstGeom>
          <a:solidFill>
            <a:srgbClr val="111111"/>
          </a:solidFill>
          <a:ln w="6350">
            <a:solidFill>
              <a:srgbClr val="333333"/>
            </a:solidFill>
            <a:prstDash val="solid"/>
          </a:ln>
          <a:effectLst>
            <a:outerShdw blurRad="254000" dist="50800" dir="81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44" name="Text 8">
            <a:extLst>
              <a:ext uri="{FF2B5EF4-FFF2-40B4-BE49-F238E27FC236}">
                <a16:creationId xmlns:a16="http://schemas.microsoft.com/office/drawing/2014/main" id="{94630A43-5374-8F18-D6C9-FCCA6BA84F24}"/>
              </a:ext>
            </a:extLst>
          </p:cNvPr>
          <p:cNvSpPr/>
          <p:nvPr/>
        </p:nvSpPr>
        <p:spPr>
          <a:xfrm>
            <a:off x="13026380" y="320040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Скорост</a:t>
            </a:r>
            <a:endParaRPr lang="en-US" sz="1400" dirty="0"/>
          </a:p>
        </p:txBody>
      </p:sp>
      <p:sp>
        <p:nvSpPr>
          <p:cNvPr id="45" name="Text 9">
            <a:extLst>
              <a:ext uri="{FF2B5EF4-FFF2-40B4-BE49-F238E27FC236}">
                <a16:creationId xmlns:a16="http://schemas.microsoft.com/office/drawing/2014/main" id="{B37FE2F8-21A4-DE24-A93C-CC93353D6F61}"/>
              </a:ext>
            </a:extLst>
          </p:cNvPr>
          <p:cNvSpPr/>
          <p:nvPr/>
        </p:nvSpPr>
        <p:spPr>
          <a:xfrm>
            <a:off x="13026380" y="365760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666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&lt; 50ms от сигнал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6666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до предложение</a:t>
            </a:r>
            <a:endParaRPr lang="en-US" sz="1100" dirty="0"/>
          </a:p>
        </p:txBody>
      </p:sp>
      <p:sp>
        <p:nvSpPr>
          <p:cNvPr id="46" name="Shape 10">
            <a:extLst>
              <a:ext uri="{FF2B5EF4-FFF2-40B4-BE49-F238E27FC236}">
                <a16:creationId xmlns:a16="http://schemas.microsoft.com/office/drawing/2014/main" id="{FE1E70D2-B0E5-E202-90CB-12D783379F05}"/>
              </a:ext>
            </a:extLst>
          </p:cNvPr>
          <p:cNvSpPr/>
          <p:nvPr/>
        </p:nvSpPr>
        <p:spPr>
          <a:xfrm>
            <a:off x="15705572" y="3017520"/>
            <a:ext cx="2651760" cy="1737360"/>
          </a:xfrm>
          <a:prstGeom prst="rect">
            <a:avLst/>
          </a:prstGeom>
          <a:solidFill>
            <a:srgbClr val="111111"/>
          </a:solidFill>
          <a:ln w="6350">
            <a:solidFill>
              <a:srgbClr val="333333"/>
            </a:solidFill>
            <a:prstDash val="solid"/>
          </a:ln>
          <a:effectLst>
            <a:outerShdw blurRad="254000" dist="50800" dir="81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47" name="Text 11">
            <a:extLst>
              <a:ext uri="{FF2B5EF4-FFF2-40B4-BE49-F238E27FC236}">
                <a16:creationId xmlns:a16="http://schemas.microsoft.com/office/drawing/2014/main" id="{B1F94897-B470-8D86-98E4-1DAB0ED21A55}"/>
              </a:ext>
            </a:extLst>
          </p:cNvPr>
          <p:cNvSpPr/>
          <p:nvPr/>
        </p:nvSpPr>
        <p:spPr>
          <a:xfrm>
            <a:off x="15888452" y="320040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Персонализация</a:t>
            </a:r>
            <a:endParaRPr lang="en-US" sz="1400" dirty="0"/>
          </a:p>
        </p:txBody>
      </p:sp>
      <p:sp>
        <p:nvSpPr>
          <p:cNvPr id="48" name="Text 12">
            <a:extLst>
              <a:ext uri="{FF2B5EF4-FFF2-40B4-BE49-F238E27FC236}">
                <a16:creationId xmlns:a16="http://schemas.microsoft.com/office/drawing/2014/main" id="{2E969103-C35F-192D-8B9B-41998EBC3A63}"/>
              </a:ext>
            </a:extLst>
          </p:cNvPr>
          <p:cNvSpPr/>
          <p:nvPr/>
        </p:nvSpPr>
        <p:spPr>
          <a:xfrm>
            <a:off x="15888452" y="365760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666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Учи се от потребителя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6666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автоматично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305719304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8080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5603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6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VOXEN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Цел на проекта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365760" y="1463040"/>
            <a:ext cx="8412480" cy="1371600"/>
          </a:xfrm>
          <a:prstGeom prst="rect">
            <a:avLst/>
          </a:prstGeom>
          <a:solidFill>
            <a:srgbClr val="111111"/>
          </a:solidFill>
          <a:ln w="6350">
            <a:solidFill>
              <a:srgbClr val="333333"/>
            </a:solidFill>
            <a:prstDash val="solid"/>
          </a:ln>
          <a:effectLst>
            <a:outerShdw blurRad="254000" dist="50800" dir="81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731520" y="1600200"/>
            <a:ext cx="76809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Достъпна, бърза и персонализирана комуникация</a:t>
            </a:r>
            <a:endParaRPr lang="en-US" sz="1800" dirty="0"/>
          </a:p>
          <a:p>
            <a:pPr marL="0" indent="0" algn="ctr">
              <a:buNone/>
            </a:pPr>
            <a:r>
              <a:rPr lang="en-US" sz="1800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за хора с двигателни увреждания - навсякъде.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365760" y="3017520"/>
            <a:ext cx="2651760" cy="1737360"/>
          </a:xfrm>
          <a:prstGeom prst="rect">
            <a:avLst/>
          </a:prstGeom>
          <a:solidFill>
            <a:srgbClr val="111111"/>
          </a:solidFill>
          <a:ln w="6350">
            <a:solidFill>
              <a:srgbClr val="333333"/>
            </a:solidFill>
            <a:prstDash val="solid"/>
          </a:ln>
          <a:effectLst>
            <a:outerShdw blurRad="254000" dist="50800" dir="81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48640" y="320040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Достъпност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48640" y="365760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666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Low-cost hardware,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6666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open source software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27832" y="3017520"/>
            <a:ext cx="2651760" cy="1737360"/>
          </a:xfrm>
          <a:prstGeom prst="rect">
            <a:avLst/>
          </a:prstGeom>
          <a:solidFill>
            <a:srgbClr val="111111"/>
          </a:solidFill>
          <a:ln w="6350">
            <a:solidFill>
              <a:srgbClr val="333333"/>
            </a:solidFill>
            <a:prstDash val="solid"/>
          </a:ln>
          <a:effectLst>
            <a:outerShdw blurRad="254000" dist="50800" dir="81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3410712" y="320040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Скорост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410712" y="365760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666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&lt; 50ms от сигнал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6666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до предложение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089904" y="3017520"/>
            <a:ext cx="2651760" cy="1737360"/>
          </a:xfrm>
          <a:prstGeom prst="rect">
            <a:avLst/>
          </a:prstGeom>
          <a:solidFill>
            <a:srgbClr val="111111"/>
          </a:solidFill>
          <a:ln w="6350">
            <a:solidFill>
              <a:srgbClr val="333333"/>
            </a:solidFill>
            <a:prstDash val="solid"/>
          </a:ln>
          <a:effectLst>
            <a:outerShdw blurRad="254000" dist="50800" dir="81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6272784" y="320040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Персонализация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272784" y="365760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666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Учи се от потребителя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6666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автоматично</a:t>
            </a:r>
            <a:endParaRPr lang="en-US" sz="1100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F573668C-841E-4FCA-7CCE-BAA24B2AAA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6591962" y="1047655"/>
            <a:ext cx="6256272" cy="3427666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7ADE491B-C974-1B55-43DB-4E7EEB5E0C0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77378" y="746849"/>
            <a:ext cx="4790458" cy="359605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80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5603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6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VOXEN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4572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bg-BG" sz="3200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С какво се отличаваме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377280" y="2462535"/>
            <a:ext cx="8389440" cy="2197413"/>
          </a:xfrm>
          <a:prstGeom prst="rect">
            <a:avLst/>
          </a:prstGeom>
          <a:solidFill>
            <a:srgbClr val="111111"/>
          </a:solidFill>
          <a:ln w="6350">
            <a:solidFill>
              <a:srgbClr val="333333"/>
            </a:solidFill>
            <a:prstDash val="solid"/>
          </a:ln>
          <a:effectLst>
            <a:outerShdw blurRad="254000" dist="50800" dir="81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37200" y="260326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bg-BG" sz="1100" kern="0" spc="2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 какво се отличаваме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662688" y="3198420"/>
            <a:ext cx="64008" cy="64008"/>
          </a:xfrm>
          <a:prstGeom prst="ellipse">
            <a:avLst/>
          </a:prstGeom>
          <a:solidFill>
            <a:srgbClr val="444444"/>
          </a:solidFill>
          <a:ln w="12700">
            <a:solidFill>
              <a:srgbClr val="444444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820080" y="2851686"/>
            <a:ext cx="7199541" cy="73964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ru-RU" sz="1200" dirty="0">
                <a:solidFill>
                  <a:srgbClr val="E8E8E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Нашата система е като мултиизмерен език</a:t>
            </a:r>
            <a:r>
              <a:rPr lang="en-US" sz="1200" dirty="0">
                <a:solidFill>
                  <a:srgbClr val="E8E8E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 </a:t>
            </a:r>
            <a:r>
              <a:rPr lang="bg-BG" sz="1200" dirty="0">
                <a:solidFill>
                  <a:srgbClr val="E8E8E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и в същото време е </a:t>
            </a:r>
            <a:r>
              <a:rPr lang="ru-RU" sz="1200" dirty="0">
                <a:solidFill>
                  <a:srgbClr val="E8E8E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адаптивна, гъвкава и достъпна</a:t>
            </a:r>
            <a:r>
              <a:rPr lang="en-US" sz="1200" dirty="0">
                <a:solidFill>
                  <a:srgbClr val="E8E8E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62688" y="3668148"/>
            <a:ext cx="64008" cy="64008"/>
          </a:xfrm>
          <a:prstGeom prst="ellipse">
            <a:avLst/>
          </a:prstGeom>
          <a:solidFill>
            <a:srgbClr val="444444"/>
          </a:solidFill>
          <a:ln w="12700">
            <a:solidFill>
              <a:srgbClr val="444444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805680" y="3396663"/>
            <a:ext cx="7128332" cy="59760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ru-RU" sz="1200" dirty="0">
                <a:solidFill>
                  <a:srgbClr val="E8E8E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Системата е модулна, което позволява лесна замяна на входните методи</a:t>
            </a:r>
            <a:r>
              <a:rPr lang="en-US" sz="1200" dirty="0">
                <a:solidFill>
                  <a:srgbClr val="E8E8E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 (EEG, EMG).</a:t>
            </a:r>
            <a:endParaRPr lang="en-US" sz="1200" dirty="0"/>
          </a:p>
        </p:txBody>
      </p:sp>
      <p:sp>
        <p:nvSpPr>
          <p:cNvPr id="26" name="Shape 3">
            <a:extLst>
              <a:ext uri="{FF2B5EF4-FFF2-40B4-BE49-F238E27FC236}">
                <a16:creationId xmlns:a16="http://schemas.microsoft.com/office/drawing/2014/main" id="{CCD066B9-DECD-49FA-84C5-297B514556A4}"/>
              </a:ext>
            </a:extLst>
          </p:cNvPr>
          <p:cNvSpPr/>
          <p:nvPr/>
        </p:nvSpPr>
        <p:spPr>
          <a:xfrm>
            <a:off x="370080" y="1601847"/>
            <a:ext cx="8389440" cy="757512"/>
          </a:xfrm>
          <a:prstGeom prst="rect">
            <a:avLst/>
          </a:prstGeom>
          <a:solidFill>
            <a:srgbClr val="111111"/>
          </a:solidFill>
          <a:ln w="6350">
            <a:solidFill>
              <a:srgbClr val="333333"/>
            </a:solidFill>
            <a:prstDash val="solid"/>
          </a:ln>
          <a:effectLst>
            <a:outerShdw blurRad="254000" dist="50800" dir="81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27" name="Shape 5">
            <a:extLst>
              <a:ext uri="{FF2B5EF4-FFF2-40B4-BE49-F238E27FC236}">
                <a16:creationId xmlns:a16="http://schemas.microsoft.com/office/drawing/2014/main" id="{D485E91F-615A-45C8-9A19-A82A7767FE84}"/>
              </a:ext>
            </a:extLst>
          </p:cNvPr>
          <p:cNvSpPr/>
          <p:nvPr/>
        </p:nvSpPr>
        <p:spPr>
          <a:xfrm>
            <a:off x="638675" y="2027016"/>
            <a:ext cx="76731" cy="64008"/>
          </a:xfrm>
          <a:prstGeom prst="ellipse">
            <a:avLst/>
          </a:prstGeom>
          <a:solidFill>
            <a:srgbClr val="444444"/>
          </a:solidFill>
          <a:ln w="12700">
            <a:solidFill>
              <a:srgbClr val="444444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28" name="Text 4">
            <a:extLst>
              <a:ext uri="{FF2B5EF4-FFF2-40B4-BE49-F238E27FC236}">
                <a16:creationId xmlns:a16="http://schemas.microsoft.com/office/drawing/2014/main" id="{09485891-9319-44AA-AFF7-13FAF9191BBE}"/>
              </a:ext>
            </a:extLst>
          </p:cNvPr>
          <p:cNvSpPr/>
          <p:nvPr/>
        </p:nvSpPr>
        <p:spPr>
          <a:xfrm>
            <a:off x="610560" y="1653372"/>
            <a:ext cx="39461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bg-BG" sz="1100" kern="0" spc="2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Ключова идея</a:t>
            </a:r>
            <a:endParaRPr lang="en-US" sz="1100" dirty="0"/>
          </a:p>
        </p:txBody>
      </p:sp>
      <p:sp>
        <p:nvSpPr>
          <p:cNvPr id="29" name="Text 6">
            <a:extLst>
              <a:ext uri="{FF2B5EF4-FFF2-40B4-BE49-F238E27FC236}">
                <a16:creationId xmlns:a16="http://schemas.microsoft.com/office/drawing/2014/main" id="{4832CADF-66A1-48DA-9911-2AF167CAD2A6}"/>
              </a:ext>
            </a:extLst>
          </p:cNvPr>
          <p:cNvSpPr/>
          <p:nvPr/>
        </p:nvSpPr>
        <p:spPr>
          <a:xfrm>
            <a:off x="809892" y="1857348"/>
            <a:ext cx="7332129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ru-RU" sz="1200" dirty="0">
                <a:solidFill>
                  <a:srgbClr val="E8E8E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Технологията трябва да се адаптира към потребителя, вместо потребителят да се адаптира към технологията.</a:t>
            </a:r>
            <a:endParaRPr lang="en-US" sz="1200" dirty="0"/>
          </a:p>
        </p:txBody>
      </p:sp>
      <p:sp>
        <p:nvSpPr>
          <p:cNvPr id="30" name="Shape 9">
            <a:extLst>
              <a:ext uri="{FF2B5EF4-FFF2-40B4-BE49-F238E27FC236}">
                <a16:creationId xmlns:a16="http://schemas.microsoft.com/office/drawing/2014/main" id="{9E352E93-9E22-4611-9A30-6B0009F4A3F4}"/>
              </a:ext>
            </a:extLst>
          </p:cNvPr>
          <p:cNvSpPr/>
          <p:nvPr/>
        </p:nvSpPr>
        <p:spPr>
          <a:xfrm>
            <a:off x="671088" y="4158948"/>
            <a:ext cx="64008" cy="64008"/>
          </a:xfrm>
          <a:prstGeom prst="ellipse">
            <a:avLst/>
          </a:prstGeom>
          <a:solidFill>
            <a:srgbClr val="444444"/>
          </a:solidFill>
          <a:ln w="12700">
            <a:solidFill>
              <a:srgbClr val="444444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35" name="Text 10">
            <a:extLst>
              <a:ext uri="{FF2B5EF4-FFF2-40B4-BE49-F238E27FC236}">
                <a16:creationId xmlns:a16="http://schemas.microsoft.com/office/drawing/2014/main" id="{6AAE4E18-6555-4889-AAFF-555B8C32EA96}"/>
              </a:ext>
            </a:extLst>
          </p:cNvPr>
          <p:cNvSpPr/>
          <p:nvPr/>
        </p:nvSpPr>
        <p:spPr>
          <a:xfrm>
            <a:off x="805680" y="3923474"/>
            <a:ext cx="7128332" cy="59760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ru-RU" sz="1200" dirty="0">
                <a:solidFill>
                  <a:srgbClr val="E8E8E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Основното ни предимство е, че системата се персонализира за всеки човек, вместо да предлага еднакво решение за всички.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134204813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80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5603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6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VOXEN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207138" y="6400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Как работи?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9235761" y="1938528"/>
            <a:ext cx="365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929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9208329" y="2304288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Сензори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9208329" y="2679192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666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ESP32 чете eye tracking,</a:t>
            </a:r>
            <a:r>
              <a:rPr lang="en-US" sz="950" dirty="0"/>
              <a:t> </a:t>
            </a:r>
            <a:r>
              <a:rPr lang="en-US" sz="950" dirty="0">
                <a:solidFill>
                  <a:srgbClr val="6666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акселерометър</a:t>
            </a:r>
            <a:r>
              <a:rPr lang="bg-BG" sz="950" dirty="0">
                <a:solidFill>
                  <a:srgbClr val="6666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 и сензора за допир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10598217" y="2560320"/>
            <a:ext cx="182880" cy="0"/>
          </a:xfrm>
          <a:prstGeom prst="line">
            <a:avLst/>
          </a:prstGeom>
          <a:noFill/>
          <a:ln w="12700">
            <a:solidFill>
              <a:srgbClr val="282828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9" name="Shape 7"/>
          <p:cNvSpPr/>
          <p:nvPr/>
        </p:nvSpPr>
        <p:spPr>
          <a:xfrm>
            <a:off x="10817673" y="1828800"/>
            <a:ext cx="1463040" cy="1463040"/>
          </a:xfrm>
          <a:prstGeom prst="rect">
            <a:avLst/>
          </a:prstGeom>
          <a:solidFill>
            <a:srgbClr val="111111"/>
          </a:solidFill>
          <a:ln w="6350">
            <a:solidFill>
              <a:srgbClr val="333333"/>
            </a:solidFill>
            <a:prstDash val="solid"/>
          </a:ln>
          <a:effectLst>
            <a:outerShdw blurRad="254000" dist="50800" dir="81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10954833" y="1938528"/>
            <a:ext cx="365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929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0927401" y="2304288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Интерфейс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927401" y="2679192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666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React показва думи,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6666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потребителят избира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12317289" y="2560320"/>
            <a:ext cx="182880" cy="0"/>
          </a:xfrm>
          <a:prstGeom prst="line">
            <a:avLst/>
          </a:prstGeom>
          <a:noFill/>
          <a:ln w="12700">
            <a:solidFill>
              <a:srgbClr val="282828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4" name="Shape 12"/>
          <p:cNvSpPr/>
          <p:nvPr/>
        </p:nvSpPr>
        <p:spPr>
          <a:xfrm>
            <a:off x="12536745" y="1828800"/>
            <a:ext cx="1463040" cy="1463040"/>
          </a:xfrm>
          <a:prstGeom prst="rect">
            <a:avLst/>
          </a:prstGeom>
          <a:solidFill>
            <a:srgbClr val="111111"/>
          </a:solidFill>
          <a:ln w="6350">
            <a:solidFill>
              <a:srgbClr val="333333"/>
            </a:solidFill>
            <a:prstDash val="solid"/>
          </a:ln>
          <a:effectLst>
            <a:outerShdw blurRad="254000" dist="50800" dir="81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12673905" y="1938528"/>
            <a:ext cx="365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929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2646473" y="2304288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ИИ модел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2646473" y="2679192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666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distilGPT-2 дава </a:t>
            </a:r>
            <a:r>
              <a:rPr lang="bg-BG" sz="950" dirty="0">
                <a:solidFill>
                  <a:srgbClr val="6666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предложения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6666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за следваща дума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14036361" y="2560320"/>
            <a:ext cx="182880" cy="0"/>
          </a:xfrm>
          <a:prstGeom prst="line">
            <a:avLst/>
          </a:prstGeom>
          <a:noFill/>
          <a:ln w="12700">
            <a:solidFill>
              <a:srgbClr val="282828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9" name="Shape 17"/>
          <p:cNvSpPr/>
          <p:nvPr/>
        </p:nvSpPr>
        <p:spPr>
          <a:xfrm>
            <a:off x="14255817" y="1828800"/>
            <a:ext cx="1463040" cy="1463040"/>
          </a:xfrm>
          <a:prstGeom prst="rect">
            <a:avLst/>
          </a:prstGeom>
          <a:solidFill>
            <a:srgbClr val="111111"/>
          </a:solidFill>
          <a:ln w="6350">
            <a:solidFill>
              <a:srgbClr val="333333"/>
            </a:solidFill>
            <a:prstDash val="solid"/>
          </a:ln>
          <a:effectLst>
            <a:outerShdw blurRad="254000" dist="50800" dir="81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14392977" y="1938528"/>
            <a:ext cx="365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929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4365545" y="2304288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MongoDB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4365545" y="2679192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666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Лична база данни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6666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филтрира + буства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15755433" y="2560320"/>
            <a:ext cx="182880" cy="0"/>
          </a:xfrm>
          <a:prstGeom prst="line">
            <a:avLst/>
          </a:prstGeom>
          <a:noFill/>
          <a:ln w="12700">
            <a:solidFill>
              <a:srgbClr val="282828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24" name="Shape 22"/>
          <p:cNvSpPr/>
          <p:nvPr/>
        </p:nvSpPr>
        <p:spPr>
          <a:xfrm>
            <a:off x="15974889" y="1828800"/>
            <a:ext cx="1463040" cy="1463040"/>
          </a:xfrm>
          <a:prstGeom prst="rect">
            <a:avLst/>
          </a:prstGeom>
          <a:solidFill>
            <a:srgbClr val="111111"/>
          </a:solidFill>
          <a:ln w="6350">
            <a:solidFill>
              <a:srgbClr val="333333"/>
            </a:solidFill>
            <a:prstDash val="solid"/>
          </a:ln>
          <a:effectLst>
            <a:outerShdw blurRad="254000" dist="50800" dir="81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16112049" y="1938528"/>
            <a:ext cx="365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929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16084617" y="2304288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Изход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16084617" y="2679192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666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TTS или действие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6666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се изпълнява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10959374" y="352044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kern="0" spc="100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WebSocket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9313454" y="3749040"/>
            <a:ext cx="2926080" cy="0"/>
          </a:xfrm>
          <a:prstGeom prst="line">
            <a:avLst/>
          </a:prstGeom>
          <a:noFill/>
          <a:ln w="6350">
            <a:solidFill>
              <a:srgbClr val="222222"/>
            </a:solidFill>
            <a:prstDash val="dash"/>
          </a:ln>
        </p:spPr>
        <p:txBody>
          <a:bodyPr/>
          <a:lstStyle/>
          <a:p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12422414" y="3520440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kern="0" spc="100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backend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12239534" y="3749040"/>
            <a:ext cx="2926080" cy="0"/>
          </a:xfrm>
          <a:prstGeom prst="line">
            <a:avLst/>
          </a:prstGeom>
          <a:noFill/>
          <a:ln w="6350">
            <a:solidFill>
              <a:srgbClr val="222222"/>
            </a:solidFill>
            <a:prstDash val="dash"/>
          </a:ln>
        </p:spPr>
        <p:txBody>
          <a:bodyPr/>
          <a:lstStyle/>
          <a:p>
            <a:endParaRPr lang="en-US" dirty="0"/>
          </a:p>
        </p:txBody>
      </p:sp>
      <p:sp>
        <p:nvSpPr>
          <p:cNvPr id="33" name="Text 1">
            <a:extLst>
              <a:ext uri="{FF2B5EF4-FFF2-40B4-BE49-F238E27FC236}">
                <a16:creationId xmlns:a16="http://schemas.microsoft.com/office/drawing/2014/main" id="{0DB9A64D-32CC-44EA-9137-D2E8CEFF4C51}"/>
              </a:ext>
            </a:extLst>
          </p:cNvPr>
          <p:cNvSpPr/>
          <p:nvPr/>
        </p:nvSpPr>
        <p:spPr>
          <a:xfrm>
            <a:off x="457200" y="6400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Как работи Voxen?</a:t>
            </a:r>
            <a:endParaRPr lang="en-US" sz="3200" dirty="0"/>
          </a:p>
        </p:txBody>
      </p:sp>
      <p:sp>
        <p:nvSpPr>
          <p:cNvPr id="34" name="Shape 2">
            <a:extLst>
              <a:ext uri="{FF2B5EF4-FFF2-40B4-BE49-F238E27FC236}">
                <a16:creationId xmlns:a16="http://schemas.microsoft.com/office/drawing/2014/main" id="{62CA7FAD-B4BB-4289-8730-8EB1BB6EF56B}"/>
              </a:ext>
            </a:extLst>
          </p:cNvPr>
          <p:cNvSpPr/>
          <p:nvPr/>
        </p:nvSpPr>
        <p:spPr>
          <a:xfrm>
            <a:off x="274320" y="1828800"/>
            <a:ext cx="1463040" cy="1463040"/>
          </a:xfrm>
          <a:prstGeom prst="rect">
            <a:avLst/>
          </a:prstGeom>
          <a:solidFill>
            <a:srgbClr val="111111"/>
          </a:solidFill>
          <a:ln w="6350">
            <a:solidFill>
              <a:srgbClr val="333333"/>
            </a:solidFill>
            <a:prstDash val="solid"/>
          </a:ln>
          <a:effectLst>
            <a:outerShdw blurRad="254000" dist="50800" dir="81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35" name="Text 3">
            <a:extLst>
              <a:ext uri="{FF2B5EF4-FFF2-40B4-BE49-F238E27FC236}">
                <a16:creationId xmlns:a16="http://schemas.microsoft.com/office/drawing/2014/main" id="{B95DF1BE-A8EA-4977-8C5F-70C222B718E3}"/>
              </a:ext>
            </a:extLst>
          </p:cNvPr>
          <p:cNvSpPr/>
          <p:nvPr/>
        </p:nvSpPr>
        <p:spPr>
          <a:xfrm>
            <a:off x="411480" y="1938528"/>
            <a:ext cx="365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929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36" name="Text 4">
            <a:extLst>
              <a:ext uri="{FF2B5EF4-FFF2-40B4-BE49-F238E27FC236}">
                <a16:creationId xmlns:a16="http://schemas.microsoft.com/office/drawing/2014/main" id="{9CB19C2D-E22A-4E40-BE8A-F5E2C4F09CDE}"/>
              </a:ext>
            </a:extLst>
          </p:cNvPr>
          <p:cNvSpPr/>
          <p:nvPr/>
        </p:nvSpPr>
        <p:spPr>
          <a:xfrm>
            <a:off x="384048" y="2304288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bg-BG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Входни данни</a:t>
            </a:r>
            <a:endParaRPr lang="en-US" sz="1300" dirty="0"/>
          </a:p>
        </p:txBody>
      </p:sp>
      <p:sp>
        <p:nvSpPr>
          <p:cNvPr id="37" name="Text 5">
            <a:extLst>
              <a:ext uri="{FF2B5EF4-FFF2-40B4-BE49-F238E27FC236}">
                <a16:creationId xmlns:a16="http://schemas.microsoft.com/office/drawing/2014/main" id="{6DC8BD78-CCBD-407C-9B58-B8E8D0266C48}"/>
              </a:ext>
            </a:extLst>
          </p:cNvPr>
          <p:cNvSpPr/>
          <p:nvPr/>
        </p:nvSpPr>
        <p:spPr>
          <a:xfrm>
            <a:off x="384048" y="2679192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666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ESP32 </a:t>
            </a:r>
            <a:r>
              <a:rPr lang="bg-BG" sz="950" dirty="0">
                <a:solidFill>
                  <a:srgbClr val="6666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- </a:t>
            </a:r>
            <a:r>
              <a:rPr lang="en-US" sz="950" dirty="0">
                <a:solidFill>
                  <a:srgbClr val="6666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акселерометър</a:t>
            </a:r>
            <a:br>
              <a:rPr lang="en-US" sz="950" dirty="0">
                <a:solidFill>
                  <a:srgbClr val="6666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</a:br>
            <a:r>
              <a:rPr lang="en-US" sz="950" dirty="0">
                <a:solidFill>
                  <a:srgbClr val="6666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Raspberry Pi, laptop camera - eye tracking</a:t>
            </a:r>
          </a:p>
        </p:txBody>
      </p:sp>
      <p:sp>
        <p:nvSpPr>
          <p:cNvPr id="38" name="Shape 6">
            <a:extLst>
              <a:ext uri="{FF2B5EF4-FFF2-40B4-BE49-F238E27FC236}">
                <a16:creationId xmlns:a16="http://schemas.microsoft.com/office/drawing/2014/main" id="{02577663-DE61-4FE5-AEF0-625B3F1BABEF}"/>
              </a:ext>
            </a:extLst>
          </p:cNvPr>
          <p:cNvSpPr/>
          <p:nvPr/>
        </p:nvSpPr>
        <p:spPr>
          <a:xfrm>
            <a:off x="1773936" y="2560320"/>
            <a:ext cx="182880" cy="0"/>
          </a:xfrm>
          <a:prstGeom prst="line">
            <a:avLst/>
          </a:prstGeom>
          <a:noFill/>
          <a:ln w="12700">
            <a:solidFill>
              <a:srgbClr val="282828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39" name="Shape 7">
            <a:extLst>
              <a:ext uri="{FF2B5EF4-FFF2-40B4-BE49-F238E27FC236}">
                <a16:creationId xmlns:a16="http://schemas.microsoft.com/office/drawing/2014/main" id="{BFDBA172-02C7-4DE0-B44F-297410924E96}"/>
              </a:ext>
            </a:extLst>
          </p:cNvPr>
          <p:cNvSpPr/>
          <p:nvPr/>
        </p:nvSpPr>
        <p:spPr>
          <a:xfrm>
            <a:off x="1993392" y="1828800"/>
            <a:ext cx="1463040" cy="1463040"/>
          </a:xfrm>
          <a:prstGeom prst="rect">
            <a:avLst/>
          </a:prstGeom>
          <a:solidFill>
            <a:srgbClr val="111111"/>
          </a:solidFill>
          <a:ln w="6350">
            <a:solidFill>
              <a:srgbClr val="333333"/>
            </a:solidFill>
            <a:prstDash val="solid"/>
          </a:ln>
          <a:effectLst>
            <a:outerShdw blurRad="254000" dist="50800" dir="81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40" name="Text 8">
            <a:extLst>
              <a:ext uri="{FF2B5EF4-FFF2-40B4-BE49-F238E27FC236}">
                <a16:creationId xmlns:a16="http://schemas.microsoft.com/office/drawing/2014/main" id="{1950F78D-1249-4779-9AAF-8BA421935FA8}"/>
              </a:ext>
            </a:extLst>
          </p:cNvPr>
          <p:cNvSpPr/>
          <p:nvPr/>
        </p:nvSpPr>
        <p:spPr>
          <a:xfrm>
            <a:off x="2130552" y="1938528"/>
            <a:ext cx="365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929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41" name="Text 9">
            <a:extLst>
              <a:ext uri="{FF2B5EF4-FFF2-40B4-BE49-F238E27FC236}">
                <a16:creationId xmlns:a16="http://schemas.microsoft.com/office/drawing/2014/main" id="{0EDE36D8-BE33-4FE2-91CB-2ABE6549BDBB}"/>
              </a:ext>
            </a:extLst>
          </p:cNvPr>
          <p:cNvSpPr/>
          <p:nvPr/>
        </p:nvSpPr>
        <p:spPr>
          <a:xfrm>
            <a:off x="2103120" y="2304288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Интерфейс</a:t>
            </a:r>
            <a:endParaRPr lang="en-US" sz="1300" dirty="0"/>
          </a:p>
        </p:txBody>
      </p:sp>
      <p:sp>
        <p:nvSpPr>
          <p:cNvPr id="42" name="Text 10">
            <a:extLst>
              <a:ext uri="{FF2B5EF4-FFF2-40B4-BE49-F238E27FC236}">
                <a16:creationId xmlns:a16="http://schemas.microsoft.com/office/drawing/2014/main" id="{C8374CAC-CCE2-4B0B-9801-29CFFD3F29B2}"/>
              </a:ext>
            </a:extLst>
          </p:cNvPr>
          <p:cNvSpPr/>
          <p:nvPr/>
        </p:nvSpPr>
        <p:spPr>
          <a:xfrm>
            <a:off x="2103120" y="2679192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666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React показва думи,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6666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потребителят избира</a:t>
            </a:r>
            <a:endParaRPr lang="en-US" sz="950" dirty="0"/>
          </a:p>
        </p:txBody>
      </p:sp>
      <p:sp>
        <p:nvSpPr>
          <p:cNvPr id="43" name="Shape 11">
            <a:extLst>
              <a:ext uri="{FF2B5EF4-FFF2-40B4-BE49-F238E27FC236}">
                <a16:creationId xmlns:a16="http://schemas.microsoft.com/office/drawing/2014/main" id="{7934574D-9196-4E33-ABEA-D735D0CD0DEA}"/>
              </a:ext>
            </a:extLst>
          </p:cNvPr>
          <p:cNvSpPr/>
          <p:nvPr/>
        </p:nvSpPr>
        <p:spPr>
          <a:xfrm>
            <a:off x="3493008" y="2560320"/>
            <a:ext cx="182880" cy="0"/>
          </a:xfrm>
          <a:prstGeom prst="line">
            <a:avLst/>
          </a:prstGeom>
          <a:noFill/>
          <a:ln w="12700">
            <a:solidFill>
              <a:srgbClr val="282828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44" name="Shape 12">
            <a:extLst>
              <a:ext uri="{FF2B5EF4-FFF2-40B4-BE49-F238E27FC236}">
                <a16:creationId xmlns:a16="http://schemas.microsoft.com/office/drawing/2014/main" id="{C4DDA5C4-05E6-4B02-B6F3-174A5147829F}"/>
              </a:ext>
            </a:extLst>
          </p:cNvPr>
          <p:cNvSpPr/>
          <p:nvPr/>
        </p:nvSpPr>
        <p:spPr>
          <a:xfrm>
            <a:off x="3712464" y="1828800"/>
            <a:ext cx="1463040" cy="1463040"/>
          </a:xfrm>
          <a:prstGeom prst="rect">
            <a:avLst/>
          </a:prstGeom>
          <a:solidFill>
            <a:srgbClr val="111111"/>
          </a:solidFill>
          <a:ln w="6350">
            <a:solidFill>
              <a:srgbClr val="333333"/>
            </a:solidFill>
            <a:prstDash val="solid"/>
          </a:ln>
          <a:effectLst>
            <a:outerShdw blurRad="254000" dist="50800" dir="81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45" name="Text 13">
            <a:extLst>
              <a:ext uri="{FF2B5EF4-FFF2-40B4-BE49-F238E27FC236}">
                <a16:creationId xmlns:a16="http://schemas.microsoft.com/office/drawing/2014/main" id="{24E93824-6A54-496E-9ECC-E7E228271576}"/>
              </a:ext>
            </a:extLst>
          </p:cNvPr>
          <p:cNvSpPr/>
          <p:nvPr/>
        </p:nvSpPr>
        <p:spPr>
          <a:xfrm>
            <a:off x="3849624" y="1938528"/>
            <a:ext cx="365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929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46" name="Text 14">
            <a:extLst>
              <a:ext uri="{FF2B5EF4-FFF2-40B4-BE49-F238E27FC236}">
                <a16:creationId xmlns:a16="http://schemas.microsoft.com/office/drawing/2014/main" id="{A0EA364E-F4F2-4657-A41D-0521CDF2BC90}"/>
              </a:ext>
            </a:extLst>
          </p:cNvPr>
          <p:cNvSpPr/>
          <p:nvPr/>
        </p:nvSpPr>
        <p:spPr>
          <a:xfrm>
            <a:off x="3822192" y="2304288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модел</a:t>
            </a:r>
            <a:endParaRPr lang="en-US" sz="1300" dirty="0"/>
          </a:p>
        </p:txBody>
      </p:sp>
      <p:sp>
        <p:nvSpPr>
          <p:cNvPr id="47" name="Text 15">
            <a:extLst>
              <a:ext uri="{FF2B5EF4-FFF2-40B4-BE49-F238E27FC236}">
                <a16:creationId xmlns:a16="http://schemas.microsoft.com/office/drawing/2014/main" id="{D117B4F7-EE91-4DC7-97FD-202C43003688}"/>
              </a:ext>
            </a:extLst>
          </p:cNvPr>
          <p:cNvSpPr/>
          <p:nvPr/>
        </p:nvSpPr>
        <p:spPr>
          <a:xfrm>
            <a:off x="3822192" y="2679192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666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distilGPT-2 дава </a:t>
            </a:r>
            <a:r>
              <a:rPr lang="bg-BG" sz="950" dirty="0">
                <a:solidFill>
                  <a:srgbClr val="6666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предложения</a:t>
            </a:r>
            <a:endParaRPr lang="bg-BG" sz="950" dirty="0"/>
          </a:p>
          <a:p>
            <a:pPr marL="0" indent="0">
              <a:buNone/>
            </a:pPr>
            <a:r>
              <a:rPr lang="ru-RU" sz="950" dirty="0">
                <a:solidFill>
                  <a:srgbClr val="6666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Engram - управл</a:t>
            </a:r>
            <a:r>
              <a:rPr lang="bg-BG" sz="950" dirty="0">
                <a:solidFill>
                  <a:srgbClr val="6666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ява</a:t>
            </a:r>
            <a:r>
              <a:rPr lang="ru-RU" sz="950" dirty="0">
                <a:solidFill>
                  <a:srgbClr val="6666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 информацията</a:t>
            </a:r>
            <a:endParaRPr lang="en-US" sz="950" dirty="0"/>
          </a:p>
        </p:txBody>
      </p:sp>
      <p:sp>
        <p:nvSpPr>
          <p:cNvPr id="48" name="Shape 16">
            <a:extLst>
              <a:ext uri="{FF2B5EF4-FFF2-40B4-BE49-F238E27FC236}">
                <a16:creationId xmlns:a16="http://schemas.microsoft.com/office/drawing/2014/main" id="{A0730996-E264-46EB-8B4B-FCF1C9B360AE}"/>
              </a:ext>
            </a:extLst>
          </p:cNvPr>
          <p:cNvSpPr/>
          <p:nvPr/>
        </p:nvSpPr>
        <p:spPr>
          <a:xfrm>
            <a:off x="5212080" y="2560320"/>
            <a:ext cx="182880" cy="0"/>
          </a:xfrm>
          <a:prstGeom prst="line">
            <a:avLst/>
          </a:prstGeom>
          <a:noFill/>
          <a:ln w="12700">
            <a:solidFill>
              <a:srgbClr val="282828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49" name="Shape 17">
            <a:extLst>
              <a:ext uri="{FF2B5EF4-FFF2-40B4-BE49-F238E27FC236}">
                <a16:creationId xmlns:a16="http://schemas.microsoft.com/office/drawing/2014/main" id="{E4ED292D-4401-41A2-82FC-1BFD3ED9F493}"/>
              </a:ext>
            </a:extLst>
          </p:cNvPr>
          <p:cNvSpPr/>
          <p:nvPr/>
        </p:nvSpPr>
        <p:spPr>
          <a:xfrm>
            <a:off x="5431536" y="1828800"/>
            <a:ext cx="1463040" cy="1463040"/>
          </a:xfrm>
          <a:prstGeom prst="rect">
            <a:avLst/>
          </a:prstGeom>
          <a:solidFill>
            <a:srgbClr val="111111"/>
          </a:solidFill>
          <a:ln w="6350">
            <a:solidFill>
              <a:srgbClr val="333333"/>
            </a:solidFill>
            <a:prstDash val="solid"/>
          </a:ln>
          <a:effectLst>
            <a:outerShdw blurRad="254000" dist="50800" dir="81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50" name="Text 18">
            <a:extLst>
              <a:ext uri="{FF2B5EF4-FFF2-40B4-BE49-F238E27FC236}">
                <a16:creationId xmlns:a16="http://schemas.microsoft.com/office/drawing/2014/main" id="{512347BE-F081-41FA-81D6-73F8C992C2FD}"/>
              </a:ext>
            </a:extLst>
          </p:cNvPr>
          <p:cNvSpPr/>
          <p:nvPr/>
        </p:nvSpPr>
        <p:spPr>
          <a:xfrm>
            <a:off x="5568696" y="1938528"/>
            <a:ext cx="365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929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51" name="Text 19">
            <a:extLst>
              <a:ext uri="{FF2B5EF4-FFF2-40B4-BE49-F238E27FC236}">
                <a16:creationId xmlns:a16="http://schemas.microsoft.com/office/drawing/2014/main" id="{D67352B4-696E-4D0F-A48A-988EFF05A64C}"/>
              </a:ext>
            </a:extLst>
          </p:cNvPr>
          <p:cNvSpPr/>
          <p:nvPr/>
        </p:nvSpPr>
        <p:spPr>
          <a:xfrm>
            <a:off x="5541264" y="2304288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MongoDB</a:t>
            </a:r>
            <a:endParaRPr lang="en-US" sz="1300" dirty="0"/>
          </a:p>
        </p:txBody>
      </p:sp>
      <p:sp>
        <p:nvSpPr>
          <p:cNvPr id="52" name="Text 20">
            <a:extLst>
              <a:ext uri="{FF2B5EF4-FFF2-40B4-BE49-F238E27FC236}">
                <a16:creationId xmlns:a16="http://schemas.microsoft.com/office/drawing/2014/main" id="{524F5842-2C3E-4FD7-99B1-94D7360301E0}"/>
              </a:ext>
            </a:extLst>
          </p:cNvPr>
          <p:cNvSpPr/>
          <p:nvPr/>
        </p:nvSpPr>
        <p:spPr>
          <a:xfrm>
            <a:off x="5541264" y="2679192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666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Лична база данни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6666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филтрира</a:t>
            </a:r>
            <a:endParaRPr lang="en-US" sz="950" dirty="0"/>
          </a:p>
        </p:txBody>
      </p:sp>
      <p:sp>
        <p:nvSpPr>
          <p:cNvPr id="53" name="Shape 21">
            <a:extLst>
              <a:ext uri="{FF2B5EF4-FFF2-40B4-BE49-F238E27FC236}">
                <a16:creationId xmlns:a16="http://schemas.microsoft.com/office/drawing/2014/main" id="{C5619D55-268A-4A91-AF3D-2229807CB8FA}"/>
              </a:ext>
            </a:extLst>
          </p:cNvPr>
          <p:cNvSpPr/>
          <p:nvPr/>
        </p:nvSpPr>
        <p:spPr>
          <a:xfrm>
            <a:off x="6931152" y="2560320"/>
            <a:ext cx="182880" cy="0"/>
          </a:xfrm>
          <a:prstGeom prst="line">
            <a:avLst/>
          </a:prstGeom>
          <a:noFill/>
          <a:ln w="12700">
            <a:solidFill>
              <a:srgbClr val="282828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54" name="Shape 22">
            <a:extLst>
              <a:ext uri="{FF2B5EF4-FFF2-40B4-BE49-F238E27FC236}">
                <a16:creationId xmlns:a16="http://schemas.microsoft.com/office/drawing/2014/main" id="{D5FBC90F-ACCE-4574-8555-1B0303BECA92}"/>
              </a:ext>
            </a:extLst>
          </p:cNvPr>
          <p:cNvSpPr/>
          <p:nvPr/>
        </p:nvSpPr>
        <p:spPr>
          <a:xfrm>
            <a:off x="7150608" y="1828800"/>
            <a:ext cx="1463040" cy="1463040"/>
          </a:xfrm>
          <a:prstGeom prst="rect">
            <a:avLst/>
          </a:prstGeom>
          <a:solidFill>
            <a:srgbClr val="111111"/>
          </a:solidFill>
          <a:ln w="6350">
            <a:solidFill>
              <a:srgbClr val="333333"/>
            </a:solidFill>
            <a:prstDash val="solid"/>
          </a:ln>
          <a:effectLst>
            <a:outerShdw blurRad="254000" dist="50800" dir="81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55" name="Text 23">
            <a:extLst>
              <a:ext uri="{FF2B5EF4-FFF2-40B4-BE49-F238E27FC236}">
                <a16:creationId xmlns:a16="http://schemas.microsoft.com/office/drawing/2014/main" id="{66EDDFAB-00AA-4827-84B5-219B9182395F}"/>
              </a:ext>
            </a:extLst>
          </p:cNvPr>
          <p:cNvSpPr/>
          <p:nvPr/>
        </p:nvSpPr>
        <p:spPr>
          <a:xfrm>
            <a:off x="7287768" y="1938528"/>
            <a:ext cx="365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929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56" name="Text 24">
            <a:extLst>
              <a:ext uri="{FF2B5EF4-FFF2-40B4-BE49-F238E27FC236}">
                <a16:creationId xmlns:a16="http://schemas.microsoft.com/office/drawing/2014/main" id="{C9B515B7-A3F1-4682-AD5B-8E194396F625}"/>
              </a:ext>
            </a:extLst>
          </p:cNvPr>
          <p:cNvSpPr/>
          <p:nvPr/>
        </p:nvSpPr>
        <p:spPr>
          <a:xfrm>
            <a:off x="7260336" y="2304288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Изход</a:t>
            </a:r>
            <a:endParaRPr lang="en-US" sz="1300" dirty="0"/>
          </a:p>
        </p:txBody>
      </p:sp>
      <p:sp>
        <p:nvSpPr>
          <p:cNvPr id="57" name="Text 25">
            <a:extLst>
              <a:ext uri="{FF2B5EF4-FFF2-40B4-BE49-F238E27FC236}">
                <a16:creationId xmlns:a16="http://schemas.microsoft.com/office/drawing/2014/main" id="{2508324A-744C-4E6E-BABF-B5FC45317043}"/>
              </a:ext>
            </a:extLst>
          </p:cNvPr>
          <p:cNvSpPr/>
          <p:nvPr/>
        </p:nvSpPr>
        <p:spPr>
          <a:xfrm>
            <a:off x="7260336" y="2679192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666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TTS или действие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6666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се изпълнява</a:t>
            </a:r>
            <a:endParaRPr lang="en-US" sz="950" dirty="0"/>
          </a:p>
        </p:txBody>
      </p:sp>
      <p:sp>
        <p:nvSpPr>
          <p:cNvPr id="58" name="Text 26">
            <a:extLst>
              <a:ext uri="{FF2B5EF4-FFF2-40B4-BE49-F238E27FC236}">
                <a16:creationId xmlns:a16="http://schemas.microsoft.com/office/drawing/2014/main" id="{61F92334-F90E-4A6A-8354-8880296B1CF1}"/>
              </a:ext>
            </a:extLst>
          </p:cNvPr>
          <p:cNvSpPr/>
          <p:nvPr/>
        </p:nvSpPr>
        <p:spPr>
          <a:xfrm>
            <a:off x="2856204" y="352044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kern="0" spc="100" dirty="0">
                <a:solidFill>
                  <a:schemeClr val="bg1">
                    <a:lumMod val="5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WebSocket</a:t>
            </a:r>
            <a:endParaRPr lang="en-US" sz="9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59" name="Shape 27">
            <a:extLst>
              <a:ext uri="{FF2B5EF4-FFF2-40B4-BE49-F238E27FC236}">
                <a16:creationId xmlns:a16="http://schemas.microsoft.com/office/drawing/2014/main" id="{4581F5C7-8EFB-4B9D-BCEA-6F3AF2CF1838}"/>
              </a:ext>
            </a:extLst>
          </p:cNvPr>
          <p:cNvSpPr/>
          <p:nvPr/>
        </p:nvSpPr>
        <p:spPr>
          <a:xfrm>
            <a:off x="1463040" y="3749040"/>
            <a:ext cx="2926080" cy="0"/>
          </a:xfrm>
          <a:prstGeom prst="line">
            <a:avLst/>
          </a:prstGeom>
          <a:noFill/>
          <a:ln w="6350">
            <a:solidFill>
              <a:schemeClr val="bg1">
                <a:lumMod val="50000"/>
              </a:schemeClr>
            </a:solidFill>
            <a:prstDash val="dash"/>
          </a:ln>
        </p:spPr>
        <p:txBody>
          <a:bodyPr/>
          <a:lstStyle/>
          <a:p>
            <a:endParaRPr lang="en-US" dirty="0"/>
          </a:p>
        </p:txBody>
      </p:sp>
      <p:sp>
        <p:nvSpPr>
          <p:cNvPr id="60" name="Text 28">
            <a:extLst>
              <a:ext uri="{FF2B5EF4-FFF2-40B4-BE49-F238E27FC236}">
                <a16:creationId xmlns:a16="http://schemas.microsoft.com/office/drawing/2014/main" id="{C2C10F93-175A-486C-B9A7-BA268768DF04}"/>
              </a:ext>
            </a:extLst>
          </p:cNvPr>
          <p:cNvSpPr/>
          <p:nvPr/>
        </p:nvSpPr>
        <p:spPr>
          <a:xfrm>
            <a:off x="4393581" y="3520440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kern="0" spc="100" dirty="0">
                <a:solidFill>
                  <a:schemeClr val="bg1">
                    <a:lumMod val="5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backend</a:t>
            </a:r>
            <a:endParaRPr lang="en-US" sz="9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61" name="Shape 29">
            <a:extLst>
              <a:ext uri="{FF2B5EF4-FFF2-40B4-BE49-F238E27FC236}">
                <a16:creationId xmlns:a16="http://schemas.microsoft.com/office/drawing/2014/main" id="{62C883D7-9BDA-4602-8140-46C7AAD7521A}"/>
              </a:ext>
            </a:extLst>
          </p:cNvPr>
          <p:cNvSpPr/>
          <p:nvPr/>
        </p:nvSpPr>
        <p:spPr>
          <a:xfrm>
            <a:off x="4389120" y="3749040"/>
            <a:ext cx="3022724" cy="0"/>
          </a:xfrm>
          <a:prstGeom prst="line">
            <a:avLst/>
          </a:prstGeom>
          <a:noFill/>
          <a:ln w="6350">
            <a:solidFill>
              <a:schemeClr val="bg1">
                <a:lumMod val="50000"/>
              </a:schemeClr>
            </a:solidFill>
            <a:prstDash val="dash"/>
          </a:ln>
        </p:spPr>
        <p:txBody>
          <a:bodyPr/>
          <a:lstStyle/>
          <a:p>
            <a:endParaRPr lang="en-US" dirty="0"/>
          </a:p>
        </p:txBody>
      </p:sp>
      <p:sp>
        <p:nvSpPr>
          <p:cNvPr id="62" name="Text 26">
            <a:extLst>
              <a:ext uri="{FF2B5EF4-FFF2-40B4-BE49-F238E27FC236}">
                <a16:creationId xmlns:a16="http://schemas.microsoft.com/office/drawing/2014/main" id="{1A4010C5-C6EB-4183-8F36-9979900E13E2}"/>
              </a:ext>
            </a:extLst>
          </p:cNvPr>
          <p:cNvSpPr/>
          <p:nvPr/>
        </p:nvSpPr>
        <p:spPr>
          <a:xfrm>
            <a:off x="1916634" y="3812975"/>
            <a:ext cx="5310731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kern="0" spc="100" dirty="0">
                <a:solidFill>
                  <a:schemeClr val="bg1">
                    <a:lumMod val="5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ESP32 → WebSocket → FastAPI → MongoDB → distilGPT-2 → WebSocket → React → TTS</a:t>
            </a:r>
            <a:endParaRPr lang="en-US" sz="900" dirty="0">
              <a:solidFill>
                <a:schemeClr val="bg1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7782895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80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5603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6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VOXEN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CNN </a:t>
            </a:r>
            <a:r>
              <a:rPr lang="bg-BG" sz="3200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моделът</a:t>
            </a:r>
          </a:p>
        </p:txBody>
      </p:sp>
      <p:sp>
        <p:nvSpPr>
          <p:cNvPr id="4" name="Shape 2"/>
          <p:cNvSpPr/>
          <p:nvPr/>
        </p:nvSpPr>
        <p:spPr>
          <a:xfrm>
            <a:off x="365760" y="1508760"/>
            <a:ext cx="7604640" cy="914400"/>
          </a:xfrm>
          <a:prstGeom prst="rect">
            <a:avLst/>
          </a:prstGeom>
          <a:solidFill>
            <a:srgbClr val="111111"/>
          </a:solidFill>
          <a:ln w="6350">
            <a:solidFill>
              <a:srgbClr val="333333"/>
            </a:solidFill>
            <a:prstDash val="solid"/>
          </a:ln>
          <a:effectLst>
            <a:outerShdw blurRad="254000" dist="50800" dir="81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94360" y="1773936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bg-BG" sz="1600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Как е обучен?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65760" y="2606040"/>
            <a:ext cx="7604640" cy="914400"/>
          </a:xfrm>
          <a:prstGeom prst="rect">
            <a:avLst/>
          </a:prstGeom>
          <a:solidFill>
            <a:srgbClr val="111111"/>
          </a:solidFill>
          <a:ln w="6350">
            <a:solidFill>
              <a:srgbClr val="333333"/>
            </a:solidFill>
            <a:prstDash val="solid"/>
          </a:ln>
          <a:effectLst>
            <a:outerShdw blurRad="254000" dist="50800" dir="81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16" name="Shape 14"/>
          <p:cNvSpPr/>
          <p:nvPr/>
        </p:nvSpPr>
        <p:spPr>
          <a:xfrm>
            <a:off x="365760" y="3703320"/>
            <a:ext cx="7604640" cy="914400"/>
          </a:xfrm>
          <a:prstGeom prst="rect">
            <a:avLst/>
          </a:prstGeom>
          <a:solidFill>
            <a:srgbClr val="111111"/>
          </a:solidFill>
          <a:ln w="6350">
            <a:solidFill>
              <a:srgbClr val="333333"/>
            </a:solidFill>
            <a:prstDash val="solid"/>
          </a:ln>
          <a:effectLst>
            <a:outerShdw blurRad="254000" dist="50800" dir="81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23" name="Text 4">
            <a:extLst>
              <a:ext uri="{FF2B5EF4-FFF2-40B4-BE49-F238E27FC236}">
                <a16:creationId xmlns:a16="http://schemas.microsoft.com/office/drawing/2014/main" id="{926A0891-E00E-463C-B603-8F021E6307FB}"/>
              </a:ext>
            </a:extLst>
          </p:cNvPr>
          <p:cNvSpPr/>
          <p:nvPr/>
        </p:nvSpPr>
        <p:spPr>
          <a:xfrm>
            <a:off x="594360" y="3968496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bg-BG" sz="1600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Как тествахме модела?</a:t>
            </a:r>
            <a:endParaRPr lang="en-US" sz="1200" dirty="0"/>
          </a:p>
        </p:txBody>
      </p:sp>
      <p:sp>
        <p:nvSpPr>
          <p:cNvPr id="24" name="Text 4">
            <a:extLst>
              <a:ext uri="{FF2B5EF4-FFF2-40B4-BE49-F238E27FC236}">
                <a16:creationId xmlns:a16="http://schemas.microsoft.com/office/drawing/2014/main" id="{41B73BD6-4770-47B1-9DF2-B93FA451A3D8}"/>
              </a:ext>
            </a:extLst>
          </p:cNvPr>
          <p:cNvSpPr/>
          <p:nvPr/>
        </p:nvSpPr>
        <p:spPr>
          <a:xfrm>
            <a:off x="595440" y="2871216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bg-BG" sz="1600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Как работи моделът?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246827657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8080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5603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6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VOXEN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Технологии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365760" y="1508760"/>
            <a:ext cx="4114800" cy="914400"/>
          </a:xfrm>
          <a:prstGeom prst="rect">
            <a:avLst/>
          </a:prstGeom>
          <a:solidFill>
            <a:srgbClr val="111111"/>
          </a:solidFill>
          <a:ln w="6350">
            <a:solidFill>
              <a:srgbClr val="333333"/>
            </a:solidFill>
            <a:prstDash val="solid"/>
          </a:ln>
          <a:effectLst>
            <a:outerShdw blurRad="254000" dist="50800" dir="81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594360" y="1627632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2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HARDWARE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94360" y="1911096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ESP32 · Raspberry Pi · Eye Tracker · </a:t>
            </a:r>
            <a:r>
              <a:rPr lang="bg-BG" sz="1200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Акселерометър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754880" y="1508760"/>
            <a:ext cx="4114800" cy="914400"/>
          </a:xfrm>
          <a:prstGeom prst="rect">
            <a:avLst/>
          </a:prstGeom>
          <a:solidFill>
            <a:srgbClr val="111111"/>
          </a:solidFill>
          <a:ln w="6350">
            <a:solidFill>
              <a:srgbClr val="333333"/>
            </a:solidFill>
            <a:prstDash val="solid"/>
          </a:ln>
          <a:effectLst>
            <a:outerShdw blurRad="254000" dist="50800" dir="81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4983480" y="1627632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2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ИИ / ML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983480" y="1911096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distilGPT-2 · HuggingFace Transformers · Logit re-ranking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65760" y="2606040"/>
            <a:ext cx="4114800" cy="914400"/>
          </a:xfrm>
          <a:prstGeom prst="rect">
            <a:avLst/>
          </a:prstGeom>
          <a:solidFill>
            <a:srgbClr val="111111"/>
          </a:solidFill>
          <a:ln w="6350">
            <a:solidFill>
              <a:srgbClr val="333333"/>
            </a:solidFill>
            <a:prstDash val="solid"/>
          </a:ln>
          <a:effectLst>
            <a:outerShdw blurRad="254000" dist="50800" dir="81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594360" y="2724912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2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94360" y="3008376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FastAPI · Python · WebSockets · pymongo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754880" y="2606040"/>
            <a:ext cx="4114800" cy="914400"/>
          </a:xfrm>
          <a:prstGeom prst="rect">
            <a:avLst/>
          </a:prstGeom>
          <a:solidFill>
            <a:srgbClr val="111111"/>
          </a:solidFill>
          <a:ln w="6350">
            <a:solidFill>
              <a:srgbClr val="333333"/>
            </a:solidFill>
            <a:prstDash val="solid"/>
          </a:ln>
          <a:effectLst>
            <a:outerShdw blurRad="254000" dist="50800" dir="81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4983480" y="2724912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2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БАЗА ДАННИ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983480" y="3008376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MongoDB · Pydantic схеми · JSON персистиране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65760" y="3703320"/>
            <a:ext cx="4114800" cy="914400"/>
          </a:xfrm>
          <a:prstGeom prst="rect">
            <a:avLst/>
          </a:prstGeom>
          <a:solidFill>
            <a:srgbClr val="111111"/>
          </a:solidFill>
          <a:ln w="6350">
            <a:solidFill>
              <a:srgbClr val="333333"/>
            </a:solidFill>
            <a:prstDash val="solid"/>
          </a:ln>
          <a:effectLst>
            <a:outerShdw blurRad="254000" dist="50800" dir="81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594360" y="3822192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2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594360" y="4105656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React · Vite · WebSocket hook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754880" y="3717544"/>
            <a:ext cx="4114800" cy="914400"/>
          </a:xfrm>
          <a:prstGeom prst="rect">
            <a:avLst/>
          </a:prstGeom>
          <a:solidFill>
            <a:srgbClr val="111111"/>
          </a:solidFill>
          <a:ln w="6350">
            <a:solidFill>
              <a:srgbClr val="333333"/>
            </a:solidFill>
            <a:prstDash val="solid"/>
          </a:ln>
          <a:effectLst>
            <a:outerShdw blurRad="254000" dist="50800" dir="81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4983480" y="3822192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2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КОМУНИКАЦИЯ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983480" y="4105656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ESP32 WebSocket сървър · Serial / WiFi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8080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5603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6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VOXEN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0" y="2068830"/>
            <a:ext cx="91440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600" kern="0" spc="1200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Демо</a:t>
            </a:r>
            <a:endParaRPr lang="en-US" sz="560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588</TotalTime>
  <Words>511</Words>
  <Application>Microsoft Office PowerPoint</Application>
  <PresentationFormat>On-screen Show (16:9)</PresentationFormat>
  <Paragraphs>158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Voxen</dc:title>
  <dc:subject>PptxGenJS Presentation</dc:subject>
  <dc:creator>PptxGenJS</dc:creator>
  <cp:lastModifiedBy>Teodor Penev</cp:lastModifiedBy>
  <cp:revision>39</cp:revision>
  <dcterms:created xsi:type="dcterms:W3CDTF">2026-03-27T13:49:03Z</dcterms:created>
  <dcterms:modified xsi:type="dcterms:W3CDTF">2026-04-16T11:22:29Z</dcterms:modified>
</cp:coreProperties>
</file>