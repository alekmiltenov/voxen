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64" r:id="rId5"/>
    <p:sldId id="260" r:id="rId6"/>
    <p:sldId id="266" r:id="rId7"/>
    <p:sldId id="270" r:id="rId8"/>
    <p:sldId id="261" r:id="rId9"/>
    <p:sldId id="262" r:id="rId10"/>
    <p:sldId id="263" r:id="rId11"/>
    <p:sldId id="271" r:id="rId12"/>
    <p:sldId id="268" r:id="rId13"/>
    <p:sldId id="267" r:id="rId1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D2D2D"/>
    <a:srgbClr val="2C2C2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6" d="100"/>
          <a:sy n="106" d="100"/>
        </p:scale>
        <p:origin x="77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556552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7828660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1570098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702491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3608700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7620643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9812817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8080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474720" y="1463040"/>
            <a:ext cx="45720" cy="45720"/>
          </a:xfrm>
          <a:prstGeom prst="ellipse">
            <a:avLst/>
          </a:prstGeom>
          <a:solidFill>
            <a:srgbClr val="222222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977640" y="1463040"/>
            <a:ext cx="45720" cy="45720"/>
          </a:xfrm>
          <a:prstGeom prst="ellipse">
            <a:avLst/>
          </a:prstGeom>
          <a:solidFill>
            <a:srgbClr val="222222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480560" y="1463040"/>
            <a:ext cx="45720" cy="45720"/>
          </a:xfrm>
          <a:prstGeom prst="ellipse">
            <a:avLst/>
          </a:prstGeom>
          <a:solidFill>
            <a:srgbClr val="222222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983480" y="1463040"/>
            <a:ext cx="45720" cy="45720"/>
          </a:xfrm>
          <a:prstGeom prst="ellipse">
            <a:avLst/>
          </a:prstGeom>
          <a:solidFill>
            <a:srgbClr val="222222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0" y="1463040"/>
            <a:ext cx="45720" cy="45720"/>
          </a:xfrm>
          <a:prstGeom prst="ellipse">
            <a:avLst/>
          </a:prstGeom>
          <a:solidFill>
            <a:srgbClr val="222222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0" y="1737360"/>
            <a:ext cx="9144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200" kern="0" spc="18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VOXEN</a:t>
            </a:r>
            <a:endParaRPr lang="en-US" sz="7200" dirty="0"/>
          </a:p>
        </p:txBody>
      </p:sp>
      <p:sp>
        <p:nvSpPr>
          <p:cNvPr id="8" name="Text 6"/>
          <p:cNvSpPr/>
          <p:nvPr/>
        </p:nvSpPr>
        <p:spPr>
          <a:xfrm>
            <a:off x="1371600" y="301752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kern="0" spc="100" dirty="0">
                <a:solidFill>
                  <a:srgbClr val="66666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AAC система за хора с двигателни увреждания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840480" y="4480560"/>
            <a:ext cx="1463040" cy="0"/>
          </a:xfrm>
          <a:prstGeom prst="line">
            <a:avLst/>
          </a:prstGeom>
          <a:noFill/>
          <a:ln w="6350">
            <a:solidFill>
              <a:srgbClr val="2A2A2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0" y="46634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kern="0" spc="300" dirty="0">
                <a:solidFill>
                  <a:srgbClr val="2E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Hack TUES 2026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8080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6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VOXEN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Проблемът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14300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66666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и настоящите решения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365760" y="1737360"/>
            <a:ext cx="3840480" cy="2834640"/>
          </a:xfrm>
          <a:prstGeom prst="rect">
            <a:avLst/>
          </a:prstGeom>
          <a:solidFill>
            <a:srgbClr val="111111"/>
          </a:solidFill>
          <a:ln w="6350">
            <a:solidFill>
              <a:srgbClr val="333333"/>
            </a:solidFill>
            <a:prstDash val="solid"/>
          </a:ln>
          <a:effectLst>
            <a:outerShdw blurRad="254000" dist="50800" dir="8100000" algn="bl" rotWithShape="0">
              <a:srgbClr val="000000">
                <a:alpha val="5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187452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Проблемът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58368" y="2404872"/>
            <a:ext cx="64008" cy="64008"/>
          </a:xfrm>
          <a:prstGeom prst="ellipse">
            <a:avLst/>
          </a:prstGeom>
          <a:solidFill>
            <a:srgbClr val="444444"/>
          </a:solidFill>
          <a:ln w="12700">
            <a:solidFill>
              <a:srgbClr val="44444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2252232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E8E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~</a:t>
            </a:r>
            <a:r>
              <a:rPr lang="bg-BG" sz="1200" dirty="0">
                <a:solidFill>
                  <a:srgbClr val="E8E8E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12</a:t>
            </a:r>
            <a:r>
              <a:rPr lang="en-US" sz="1200" dirty="0">
                <a:solidFill>
                  <a:srgbClr val="E8E8E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 млн. души световно не могат да говорят</a:t>
            </a:r>
            <a:r>
              <a:rPr lang="bg-BG" sz="1200" dirty="0">
                <a:solidFill>
                  <a:srgbClr val="E8E8E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, поради парализа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58368" y="2916936"/>
            <a:ext cx="64008" cy="64008"/>
          </a:xfrm>
          <a:prstGeom prst="ellipse">
            <a:avLst/>
          </a:prstGeom>
          <a:solidFill>
            <a:srgbClr val="444444"/>
          </a:solidFill>
          <a:ln w="12700">
            <a:solidFill>
              <a:srgbClr val="44444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2775204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E8E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Съществуващите решения са бавни и неинтуитивни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58368" y="3429000"/>
            <a:ext cx="64008" cy="64008"/>
          </a:xfrm>
          <a:prstGeom prst="ellipse">
            <a:avLst/>
          </a:prstGeom>
          <a:solidFill>
            <a:srgbClr val="444444"/>
          </a:solidFill>
          <a:ln w="12700">
            <a:solidFill>
              <a:srgbClr val="44444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3265092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E8E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Цената на AAC устройствата достига 8,000+ €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58368" y="3941064"/>
            <a:ext cx="64008" cy="64008"/>
          </a:xfrm>
          <a:prstGeom prst="ellipse">
            <a:avLst/>
          </a:prstGeom>
          <a:solidFill>
            <a:srgbClr val="444444"/>
          </a:solidFill>
          <a:ln w="12700">
            <a:solidFill>
              <a:srgbClr val="44444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8108" y="378036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E8E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Без адаптиране към потребителя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663440" y="1737360"/>
            <a:ext cx="4023360" cy="2834640"/>
          </a:xfrm>
          <a:prstGeom prst="rect">
            <a:avLst/>
          </a:prstGeom>
          <a:solidFill>
            <a:srgbClr val="111111"/>
          </a:solidFill>
          <a:ln w="6350">
            <a:solidFill>
              <a:srgbClr val="333333"/>
            </a:solidFill>
            <a:prstDash val="solid"/>
          </a:ln>
          <a:effectLst>
            <a:outerShdw blurRad="254000" dist="50800" dir="8100000" algn="bl" rotWithShape="0">
              <a:srgbClr val="000000">
                <a:alpha val="5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937760" y="187452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Настоящи решения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846320" y="2359152"/>
            <a:ext cx="3566160" cy="548640"/>
          </a:xfrm>
          <a:prstGeom prst="rect">
            <a:avLst/>
          </a:prstGeom>
          <a:solidFill>
            <a:srgbClr val="111111"/>
          </a:solidFill>
          <a:ln w="6350">
            <a:solidFill>
              <a:srgbClr val="333333"/>
            </a:solidFill>
            <a:prstDash val="solid"/>
          </a:ln>
          <a:effectLst>
            <a:outerShdw blurRad="254000" dist="50800" dir="8100000" algn="bl" rotWithShape="0">
              <a:srgbClr val="000000">
                <a:alpha val="5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029200" y="2414016"/>
            <a:ext cx="1828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Tobii Dynavox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029200" y="2660904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Скъпо, тромаво, без ИИ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846320" y="3054096"/>
            <a:ext cx="3566160" cy="548640"/>
          </a:xfrm>
          <a:prstGeom prst="rect">
            <a:avLst/>
          </a:prstGeom>
          <a:solidFill>
            <a:srgbClr val="111111"/>
          </a:solidFill>
          <a:ln w="6350">
            <a:solidFill>
              <a:srgbClr val="333333"/>
            </a:solidFill>
            <a:prstDash val="solid"/>
          </a:ln>
          <a:effectLst>
            <a:outerShdw blurRad="254000" dist="50800" dir="8100000" algn="bl" rotWithShape="0">
              <a:srgbClr val="000000">
                <a:alpha val="5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5029200" y="3108960"/>
            <a:ext cx="1828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Eye Gaze Tech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029200" y="3355848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Само следи поглед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846320" y="3749040"/>
            <a:ext cx="3566160" cy="548640"/>
          </a:xfrm>
          <a:prstGeom prst="rect">
            <a:avLst/>
          </a:prstGeom>
          <a:solidFill>
            <a:srgbClr val="111111"/>
          </a:solidFill>
          <a:ln w="6350">
            <a:solidFill>
              <a:srgbClr val="333333"/>
            </a:solidFill>
            <a:prstDash val="solid"/>
          </a:ln>
          <a:effectLst>
            <a:outerShdw blurRad="254000" dist="50800" dir="8100000" algn="bl" rotWithShape="0">
              <a:srgbClr val="000000">
                <a:alpha val="50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029200" y="3803904"/>
            <a:ext cx="1828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 3 Software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029200" y="4050792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Статични решетки</a:t>
            </a:r>
            <a:endParaRPr lang="en-US" sz="10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8080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6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VOXEN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Цел на проекта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65760" y="1463040"/>
            <a:ext cx="8412480" cy="1371600"/>
          </a:xfrm>
          <a:prstGeom prst="rect">
            <a:avLst/>
          </a:prstGeom>
          <a:solidFill>
            <a:srgbClr val="111111"/>
          </a:solidFill>
          <a:ln w="6350">
            <a:solidFill>
              <a:srgbClr val="333333"/>
            </a:solidFill>
            <a:prstDash val="solid"/>
          </a:ln>
          <a:effectLst>
            <a:outerShdw blurRad="254000" dist="50800" dir="8100000" algn="bl" rotWithShape="0">
              <a:srgbClr val="000000">
                <a:alpha val="5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600200"/>
            <a:ext cx="7680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Достъпна, бърза и персонализирана комуникация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за хора с двигателни увреждания - навсякъде.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365760" y="3017520"/>
            <a:ext cx="2651760" cy="1737360"/>
          </a:xfrm>
          <a:prstGeom prst="rect">
            <a:avLst/>
          </a:prstGeom>
          <a:solidFill>
            <a:srgbClr val="111111"/>
          </a:solidFill>
          <a:ln w="6350">
            <a:solidFill>
              <a:srgbClr val="333333"/>
            </a:solidFill>
            <a:prstDash val="solid"/>
          </a:ln>
          <a:effectLst>
            <a:outerShdw blurRad="254000" dist="50800" dir="8100000" algn="bl" rotWithShape="0">
              <a:srgbClr val="000000">
                <a:alpha val="5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48640" y="32004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Достъпност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365760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6666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Low-cost hardware,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6666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open source software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27832" y="3017520"/>
            <a:ext cx="2651760" cy="1737360"/>
          </a:xfrm>
          <a:prstGeom prst="rect">
            <a:avLst/>
          </a:prstGeom>
          <a:solidFill>
            <a:srgbClr val="111111"/>
          </a:solidFill>
          <a:ln w="6350">
            <a:solidFill>
              <a:srgbClr val="333333"/>
            </a:solidFill>
            <a:prstDash val="solid"/>
          </a:ln>
          <a:effectLst>
            <a:outerShdw blurRad="254000" dist="50800" dir="8100000" algn="bl" rotWithShape="0">
              <a:srgbClr val="000000">
                <a:alpha val="5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410712" y="32004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Скорост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410712" y="365760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6666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&lt; 50ms от сигнал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6666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до предложение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089904" y="3017520"/>
            <a:ext cx="2651760" cy="1737360"/>
          </a:xfrm>
          <a:prstGeom prst="rect">
            <a:avLst/>
          </a:prstGeom>
          <a:solidFill>
            <a:srgbClr val="111111"/>
          </a:solidFill>
          <a:ln w="6350">
            <a:solidFill>
              <a:srgbClr val="333333"/>
            </a:solidFill>
            <a:prstDash val="solid"/>
          </a:ln>
          <a:effectLst>
            <a:outerShdw blurRad="254000" dist="50800" dir="8100000" algn="bl" rotWithShape="0">
              <a:srgbClr val="000000">
                <a:alpha val="5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272784" y="32004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Персонализация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272784" y="365760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6666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Учи се от потребителя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6666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автоматично</a:t>
            </a:r>
            <a:endParaRPr lang="en-US" sz="11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80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6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VOXEN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bg-BG" sz="32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С какво се отличаваме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377280" y="2462535"/>
            <a:ext cx="8389440" cy="2197413"/>
          </a:xfrm>
          <a:prstGeom prst="rect">
            <a:avLst/>
          </a:prstGeom>
          <a:solidFill>
            <a:srgbClr val="111111"/>
          </a:solidFill>
          <a:ln w="6350">
            <a:solidFill>
              <a:srgbClr val="333333"/>
            </a:solidFill>
            <a:prstDash val="solid"/>
          </a:ln>
          <a:effectLst>
            <a:outerShdw blurRad="254000" dist="50800" dir="8100000" algn="bl" rotWithShape="0">
              <a:srgbClr val="000000">
                <a:alpha val="5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37200" y="2603268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bg-BG" sz="1100" kern="0" spc="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 какво се отличаваме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62688" y="3198420"/>
            <a:ext cx="64008" cy="64008"/>
          </a:xfrm>
          <a:prstGeom prst="ellipse">
            <a:avLst/>
          </a:prstGeom>
          <a:solidFill>
            <a:srgbClr val="444444"/>
          </a:solidFill>
          <a:ln w="12700">
            <a:solidFill>
              <a:srgbClr val="44444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0080" y="2851686"/>
            <a:ext cx="7199541" cy="73964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ru-RU" sz="1200" dirty="0">
                <a:solidFill>
                  <a:srgbClr val="E8E8E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Нашата система е като мултиизмерен език</a:t>
            </a:r>
            <a:r>
              <a:rPr lang="en-US" sz="1200" dirty="0">
                <a:solidFill>
                  <a:srgbClr val="E8E8E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 </a:t>
            </a:r>
            <a:r>
              <a:rPr lang="bg-BG" sz="1200" dirty="0">
                <a:solidFill>
                  <a:srgbClr val="E8E8E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и в същото време е </a:t>
            </a:r>
            <a:r>
              <a:rPr lang="ru-RU" sz="1200" dirty="0">
                <a:solidFill>
                  <a:srgbClr val="E8E8E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адаптивна, гъвкава и достъпна</a:t>
            </a:r>
            <a:r>
              <a:rPr lang="en-US" sz="1200" dirty="0">
                <a:solidFill>
                  <a:srgbClr val="E8E8E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62688" y="3668148"/>
            <a:ext cx="64008" cy="64008"/>
          </a:xfrm>
          <a:prstGeom prst="ellipse">
            <a:avLst/>
          </a:prstGeom>
          <a:solidFill>
            <a:srgbClr val="444444"/>
          </a:solidFill>
          <a:ln w="12700">
            <a:solidFill>
              <a:srgbClr val="44444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05680" y="3396663"/>
            <a:ext cx="7128332" cy="59760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ru-RU" sz="1200" dirty="0">
                <a:solidFill>
                  <a:srgbClr val="E8E8E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Системата е модулна, което позволява лесна замяна на входните методи</a:t>
            </a:r>
            <a:r>
              <a:rPr lang="en-US" sz="1200" dirty="0">
                <a:solidFill>
                  <a:srgbClr val="E8E8E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 (EEG, EMG).</a:t>
            </a:r>
            <a:endParaRPr lang="en-US" sz="1200" dirty="0"/>
          </a:p>
        </p:txBody>
      </p:sp>
      <p:sp>
        <p:nvSpPr>
          <p:cNvPr id="26" name="Shape 3">
            <a:extLst>
              <a:ext uri="{FF2B5EF4-FFF2-40B4-BE49-F238E27FC236}">
                <a16:creationId xmlns:a16="http://schemas.microsoft.com/office/drawing/2014/main" id="{CCD066B9-DECD-49FA-84C5-297B514556A4}"/>
              </a:ext>
            </a:extLst>
          </p:cNvPr>
          <p:cNvSpPr/>
          <p:nvPr/>
        </p:nvSpPr>
        <p:spPr>
          <a:xfrm>
            <a:off x="370080" y="1601847"/>
            <a:ext cx="8389440" cy="757512"/>
          </a:xfrm>
          <a:prstGeom prst="rect">
            <a:avLst/>
          </a:prstGeom>
          <a:solidFill>
            <a:srgbClr val="111111"/>
          </a:solidFill>
          <a:ln w="6350">
            <a:solidFill>
              <a:srgbClr val="333333"/>
            </a:solidFill>
            <a:prstDash val="solid"/>
          </a:ln>
          <a:effectLst>
            <a:outerShdw blurRad="254000" dist="50800" dir="8100000" algn="bl" rotWithShape="0">
              <a:srgbClr val="000000">
                <a:alpha val="50000"/>
              </a:srgbClr>
            </a:outerShdw>
          </a:effectLst>
        </p:spPr>
      </p:sp>
      <p:sp>
        <p:nvSpPr>
          <p:cNvPr id="27" name="Shape 5">
            <a:extLst>
              <a:ext uri="{FF2B5EF4-FFF2-40B4-BE49-F238E27FC236}">
                <a16:creationId xmlns:a16="http://schemas.microsoft.com/office/drawing/2014/main" id="{D485E91F-615A-45C8-9A19-A82A7767FE84}"/>
              </a:ext>
            </a:extLst>
          </p:cNvPr>
          <p:cNvSpPr/>
          <p:nvPr/>
        </p:nvSpPr>
        <p:spPr>
          <a:xfrm>
            <a:off x="638675" y="2027016"/>
            <a:ext cx="76731" cy="64008"/>
          </a:xfrm>
          <a:prstGeom prst="ellipse">
            <a:avLst/>
          </a:prstGeom>
          <a:solidFill>
            <a:srgbClr val="444444"/>
          </a:solidFill>
          <a:ln w="12700">
            <a:solidFill>
              <a:srgbClr val="444444"/>
            </a:solidFill>
            <a:prstDash val="solid"/>
          </a:ln>
        </p:spPr>
      </p:sp>
      <p:sp>
        <p:nvSpPr>
          <p:cNvPr id="28" name="Text 4">
            <a:extLst>
              <a:ext uri="{FF2B5EF4-FFF2-40B4-BE49-F238E27FC236}">
                <a16:creationId xmlns:a16="http://schemas.microsoft.com/office/drawing/2014/main" id="{09485891-9319-44AA-AFF7-13FAF9191BBE}"/>
              </a:ext>
            </a:extLst>
          </p:cNvPr>
          <p:cNvSpPr/>
          <p:nvPr/>
        </p:nvSpPr>
        <p:spPr>
          <a:xfrm>
            <a:off x="610560" y="1653372"/>
            <a:ext cx="39461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bg-BG" sz="1100" kern="0" spc="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Ключова идея</a:t>
            </a:r>
            <a:endParaRPr lang="en-US" sz="1100" dirty="0"/>
          </a:p>
        </p:txBody>
      </p:sp>
      <p:sp>
        <p:nvSpPr>
          <p:cNvPr id="29" name="Text 6">
            <a:extLst>
              <a:ext uri="{FF2B5EF4-FFF2-40B4-BE49-F238E27FC236}">
                <a16:creationId xmlns:a16="http://schemas.microsoft.com/office/drawing/2014/main" id="{4832CADF-66A1-48DA-9911-2AF167CAD2A6}"/>
              </a:ext>
            </a:extLst>
          </p:cNvPr>
          <p:cNvSpPr/>
          <p:nvPr/>
        </p:nvSpPr>
        <p:spPr>
          <a:xfrm>
            <a:off x="809892" y="1857348"/>
            <a:ext cx="7332129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ru-RU" sz="1200" dirty="0">
                <a:solidFill>
                  <a:srgbClr val="E8E8E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Технологията трябва да се адаптира към потребителя, вместо потребителят да се адаптира към технологията.</a:t>
            </a:r>
            <a:endParaRPr lang="en-US" sz="1200" dirty="0"/>
          </a:p>
        </p:txBody>
      </p:sp>
      <p:sp>
        <p:nvSpPr>
          <p:cNvPr id="30" name="Shape 9">
            <a:extLst>
              <a:ext uri="{FF2B5EF4-FFF2-40B4-BE49-F238E27FC236}">
                <a16:creationId xmlns:a16="http://schemas.microsoft.com/office/drawing/2014/main" id="{9E352E93-9E22-4611-9A30-6B0009F4A3F4}"/>
              </a:ext>
            </a:extLst>
          </p:cNvPr>
          <p:cNvSpPr/>
          <p:nvPr/>
        </p:nvSpPr>
        <p:spPr>
          <a:xfrm>
            <a:off x="671088" y="4158948"/>
            <a:ext cx="64008" cy="64008"/>
          </a:xfrm>
          <a:prstGeom prst="ellipse">
            <a:avLst/>
          </a:prstGeom>
          <a:solidFill>
            <a:srgbClr val="444444"/>
          </a:solidFill>
          <a:ln w="12700">
            <a:solidFill>
              <a:srgbClr val="444444"/>
            </a:solidFill>
            <a:prstDash val="solid"/>
          </a:ln>
        </p:spPr>
      </p:sp>
      <p:sp>
        <p:nvSpPr>
          <p:cNvPr id="35" name="Text 10">
            <a:extLst>
              <a:ext uri="{FF2B5EF4-FFF2-40B4-BE49-F238E27FC236}">
                <a16:creationId xmlns:a16="http://schemas.microsoft.com/office/drawing/2014/main" id="{6AAE4E18-6555-4889-AAFF-555B8C32EA96}"/>
              </a:ext>
            </a:extLst>
          </p:cNvPr>
          <p:cNvSpPr/>
          <p:nvPr/>
        </p:nvSpPr>
        <p:spPr>
          <a:xfrm>
            <a:off x="805680" y="3923474"/>
            <a:ext cx="7128332" cy="59760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ru-RU" sz="1200" dirty="0">
                <a:solidFill>
                  <a:srgbClr val="E8E8E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Основното ни предимство е, че системата се персонализира за всеки човек, вместо да предлага еднакво решение за всички.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134204813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8080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6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VOXEN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Как работи Voxen?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274320" y="1828800"/>
            <a:ext cx="1463040" cy="1463040"/>
          </a:xfrm>
          <a:prstGeom prst="rect">
            <a:avLst/>
          </a:prstGeom>
          <a:solidFill>
            <a:srgbClr val="111111"/>
          </a:solidFill>
          <a:ln w="6350">
            <a:solidFill>
              <a:srgbClr val="333333"/>
            </a:solidFill>
            <a:prstDash val="solid"/>
          </a:ln>
          <a:effectLst>
            <a:outerShdw blurRad="254000" dist="50800" dir="8100000" algn="bl" rotWithShape="0">
              <a:srgbClr val="000000">
                <a:alpha val="5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11480" y="1938528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929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84048" y="2304288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bg-BG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Входни данни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84048" y="2679192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6666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ESP32 </a:t>
            </a:r>
            <a:r>
              <a:rPr lang="bg-BG" sz="950" dirty="0">
                <a:solidFill>
                  <a:srgbClr val="66666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- </a:t>
            </a:r>
            <a:r>
              <a:rPr lang="en-US" sz="950" dirty="0">
                <a:solidFill>
                  <a:srgbClr val="66666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акселерометър</a:t>
            </a:r>
            <a:br>
              <a:rPr lang="en-US" sz="950" dirty="0">
                <a:solidFill>
                  <a:srgbClr val="66666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</a:br>
            <a:r>
              <a:rPr lang="en-US" sz="950" dirty="0">
                <a:solidFill>
                  <a:srgbClr val="66666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Raspberry Pi, laptop camera - eye tracking</a:t>
            </a:r>
          </a:p>
        </p:txBody>
      </p:sp>
      <p:sp>
        <p:nvSpPr>
          <p:cNvPr id="8" name="Shape 6"/>
          <p:cNvSpPr/>
          <p:nvPr/>
        </p:nvSpPr>
        <p:spPr>
          <a:xfrm>
            <a:off x="1773936" y="2560320"/>
            <a:ext cx="182880" cy="0"/>
          </a:xfrm>
          <a:prstGeom prst="line">
            <a:avLst/>
          </a:prstGeom>
          <a:noFill/>
          <a:ln w="12700">
            <a:solidFill>
              <a:srgbClr val="28282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993392" y="1828800"/>
            <a:ext cx="1463040" cy="1463040"/>
          </a:xfrm>
          <a:prstGeom prst="rect">
            <a:avLst/>
          </a:prstGeom>
          <a:solidFill>
            <a:srgbClr val="111111"/>
          </a:solidFill>
          <a:ln w="6350">
            <a:solidFill>
              <a:srgbClr val="333333"/>
            </a:solidFill>
            <a:prstDash val="solid"/>
          </a:ln>
          <a:effectLst>
            <a:outerShdw blurRad="254000" dist="50800" dir="8100000" algn="bl" rotWithShape="0">
              <a:srgbClr val="000000">
                <a:alpha val="5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130552" y="1938528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929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103120" y="2304288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Интерфейс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103120" y="2679192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6666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React показва думи,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66666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потребителят избира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493008" y="2560320"/>
            <a:ext cx="182880" cy="0"/>
          </a:xfrm>
          <a:prstGeom prst="line">
            <a:avLst/>
          </a:prstGeom>
          <a:noFill/>
          <a:ln w="12700">
            <a:solidFill>
              <a:srgbClr val="28282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712464" y="1828800"/>
            <a:ext cx="1463040" cy="1463040"/>
          </a:xfrm>
          <a:prstGeom prst="rect">
            <a:avLst/>
          </a:prstGeom>
          <a:solidFill>
            <a:srgbClr val="111111"/>
          </a:solidFill>
          <a:ln w="6350">
            <a:solidFill>
              <a:srgbClr val="333333"/>
            </a:solidFill>
            <a:prstDash val="solid"/>
          </a:ln>
          <a:effectLst>
            <a:outerShdw blurRad="254000" dist="50800" dir="8100000" algn="bl" rotWithShape="0">
              <a:srgbClr val="000000">
                <a:alpha val="5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3849624" y="1938528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929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822192" y="2304288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модел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822192" y="2679192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6666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distilGPT-2 дава </a:t>
            </a:r>
            <a:r>
              <a:rPr lang="bg-BG" sz="950" dirty="0">
                <a:solidFill>
                  <a:srgbClr val="66666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предложения</a:t>
            </a:r>
            <a:endParaRPr lang="bg-BG" sz="950" dirty="0"/>
          </a:p>
          <a:p>
            <a:pPr marL="0" indent="0">
              <a:buNone/>
            </a:pPr>
            <a:r>
              <a:rPr lang="ru-RU" sz="950" dirty="0">
                <a:solidFill>
                  <a:srgbClr val="66666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Engram - управл</a:t>
            </a:r>
            <a:r>
              <a:rPr lang="bg-BG" sz="950" dirty="0">
                <a:solidFill>
                  <a:srgbClr val="66666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ява</a:t>
            </a:r>
            <a:r>
              <a:rPr lang="ru-RU" sz="950" dirty="0">
                <a:solidFill>
                  <a:srgbClr val="66666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 информацията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5212080" y="2560320"/>
            <a:ext cx="182880" cy="0"/>
          </a:xfrm>
          <a:prstGeom prst="line">
            <a:avLst/>
          </a:prstGeom>
          <a:noFill/>
          <a:ln w="12700">
            <a:solidFill>
              <a:srgbClr val="28282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431536" y="1828800"/>
            <a:ext cx="1463040" cy="1463040"/>
          </a:xfrm>
          <a:prstGeom prst="rect">
            <a:avLst/>
          </a:prstGeom>
          <a:solidFill>
            <a:srgbClr val="111111"/>
          </a:solidFill>
          <a:ln w="6350">
            <a:solidFill>
              <a:srgbClr val="333333"/>
            </a:solidFill>
            <a:prstDash val="solid"/>
          </a:ln>
          <a:effectLst>
            <a:outerShdw blurRad="254000" dist="50800" dir="8100000" algn="bl" rotWithShape="0">
              <a:srgbClr val="000000">
                <a:alpha val="5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568696" y="1938528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929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541264" y="2304288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541264" y="2679192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6666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Лична база данни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66666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филтрира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6931152" y="2560320"/>
            <a:ext cx="182880" cy="0"/>
          </a:xfrm>
          <a:prstGeom prst="line">
            <a:avLst/>
          </a:prstGeom>
          <a:noFill/>
          <a:ln w="12700">
            <a:solidFill>
              <a:srgbClr val="28282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150608" y="1828800"/>
            <a:ext cx="1463040" cy="1463040"/>
          </a:xfrm>
          <a:prstGeom prst="rect">
            <a:avLst/>
          </a:prstGeom>
          <a:solidFill>
            <a:srgbClr val="111111"/>
          </a:solidFill>
          <a:ln w="6350">
            <a:solidFill>
              <a:srgbClr val="333333"/>
            </a:solidFill>
            <a:prstDash val="solid"/>
          </a:ln>
          <a:effectLst>
            <a:outerShdw blurRad="254000" dist="50800" dir="8100000" algn="bl" rotWithShape="0">
              <a:srgbClr val="000000">
                <a:alpha val="5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7287768" y="1938528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929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7260336" y="2304288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Изход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7260336" y="2679192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6666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TTS или действие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66666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се изпълнява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2856204" y="3520440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kern="0" spc="100" dirty="0">
                <a:solidFill>
                  <a:schemeClr val="bg1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WebSocket</a:t>
            </a:r>
            <a:endParaRPr lang="en-US" sz="9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9" name="Shape 27"/>
          <p:cNvSpPr/>
          <p:nvPr/>
        </p:nvSpPr>
        <p:spPr>
          <a:xfrm>
            <a:off x="1463040" y="3749040"/>
            <a:ext cx="2926080" cy="0"/>
          </a:xfrm>
          <a:prstGeom prst="line">
            <a:avLst/>
          </a:prstGeom>
          <a:noFill/>
          <a:ln w="6350">
            <a:solidFill>
              <a:schemeClr val="bg1">
                <a:lumMod val="50000"/>
              </a:schemeClr>
            </a:solidFill>
            <a:prstDash val="dash"/>
          </a:ln>
        </p:spPr>
      </p:sp>
      <p:sp>
        <p:nvSpPr>
          <p:cNvPr id="30" name="Text 28"/>
          <p:cNvSpPr/>
          <p:nvPr/>
        </p:nvSpPr>
        <p:spPr>
          <a:xfrm>
            <a:off x="4393581" y="352044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kern="0" spc="100" dirty="0">
                <a:solidFill>
                  <a:schemeClr val="bg1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backend</a:t>
            </a:r>
            <a:endParaRPr lang="en-US" sz="9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31" name="Shape 29"/>
          <p:cNvSpPr/>
          <p:nvPr/>
        </p:nvSpPr>
        <p:spPr>
          <a:xfrm>
            <a:off x="4389120" y="3749040"/>
            <a:ext cx="3022724" cy="0"/>
          </a:xfrm>
          <a:prstGeom prst="line">
            <a:avLst/>
          </a:prstGeom>
          <a:noFill/>
          <a:ln w="6350">
            <a:solidFill>
              <a:schemeClr val="bg1">
                <a:lumMod val="50000"/>
              </a:schemeClr>
            </a:solidFill>
            <a:prstDash val="dash"/>
          </a:ln>
        </p:spPr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59C4F3BE-B3CA-43D8-8F62-1A6B21A697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37560428" y="578523"/>
            <a:ext cx="5976004" cy="3993477"/>
          </a:xfrm>
          <a:prstGeom prst="rect">
            <a:avLst/>
          </a:prstGeom>
        </p:spPr>
      </p:pic>
      <p:sp>
        <p:nvSpPr>
          <p:cNvPr id="34" name="Text 26">
            <a:extLst>
              <a:ext uri="{FF2B5EF4-FFF2-40B4-BE49-F238E27FC236}">
                <a16:creationId xmlns:a16="http://schemas.microsoft.com/office/drawing/2014/main" id="{E8219526-4DB8-4BE3-9624-B6F02055BBDD}"/>
              </a:ext>
            </a:extLst>
          </p:cNvPr>
          <p:cNvSpPr/>
          <p:nvPr/>
        </p:nvSpPr>
        <p:spPr>
          <a:xfrm>
            <a:off x="1916634" y="3812975"/>
            <a:ext cx="5310731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kern="0" spc="100" dirty="0">
                <a:solidFill>
                  <a:schemeClr val="bg1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 → WebSocket → FastAPI → MongoDB → distilGPT-2 → WebSocket → React → TTS</a:t>
            </a:r>
            <a:endParaRPr lang="en-US" sz="900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80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6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VOXEN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9207138" y="6400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Как работи?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1129990" y="527821"/>
            <a:ext cx="6889619" cy="4408448"/>
          </a:xfrm>
          <a:prstGeom prst="rect">
            <a:avLst/>
          </a:prstGeom>
          <a:solidFill>
            <a:srgbClr val="111111"/>
          </a:solidFill>
          <a:ln w="6350">
            <a:solidFill>
              <a:srgbClr val="333333"/>
            </a:solidFill>
            <a:prstDash val="solid"/>
          </a:ln>
          <a:effectLst>
            <a:outerShdw blurRad="254000" dist="50800" dir="8100000" algn="bl" rotWithShape="0">
              <a:srgbClr val="000000">
                <a:alpha val="5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235761" y="1938528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929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9208329" y="2304288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Сензори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208329" y="2679192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6666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ESP32 чете eye tracking,</a:t>
            </a:r>
            <a:r>
              <a:rPr lang="en-US" sz="950" dirty="0"/>
              <a:t> </a:t>
            </a:r>
            <a:r>
              <a:rPr lang="en-US" sz="950" dirty="0">
                <a:solidFill>
                  <a:srgbClr val="66666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акселерометър</a:t>
            </a:r>
            <a:r>
              <a:rPr lang="bg-BG" sz="950" dirty="0">
                <a:solidFill>
                  <a:srgbClr val="66666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 и сензора за допир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10598217" y="2560320"/>
            <a:ext cx="182880" cy="0"/>
          </a:xfrm>
          <a:prstGeom prst="line">
            <a:avLst/>
          </a:prstGeom>
          <a:noFill/>
          <a:ln w="12700">
            <a:solidFill>
              <a:srgbClr val="28282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817673" y="1828800"/>
            <a:ext cx="1463040" cy="1463040"/>
          </a:xfrm>
          <a:prstGeom prst="rect">
            <a:avLst/>
          </a:prstGeom>
          <a:solidFill>
            <a:srgbClr val="111111"/>
          </a:solidFill>
          <a:ln w="6350">
            <a:solidFill>
              <a:srgbClr val="333333"/>
            </a:solidFill>
            <a:prstDash val="solid"/>
          </a:ln>
          <a:effectLst>
            <a:outerShdw blurRad="254000" dist="50800" dir="8100000" algn="bl" rotWithShape="0">
              <a:srgbClr val="000000">
                <a:alpha val="5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0954833" y="1938528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929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0927401" y="2304288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Интерфейс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927401" y="2679192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6666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React показва думи,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66666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потребителят избира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12317289" y="2560320"/>
            <a:ext cx="182880" cy="0"/>
          </a:xfrm>
          <a:prstGeom prst="line">
            <a:avLst/>
          </a:prstGeom>
          <a:noFill/>
          <a:ln w="12700">
            <a:solidFill>
              <a:srgbClr val="28282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2536745" y="1828800"/>
            <a:ext cx="1463040" cy="1463040"/>
          </a:xfrm>
          <a:prstGeom prst="rect">
            <a:avLst/>
          </a:prstGeom>
          <a:solidFill>
            <a:srgbClr val="111111"/>
          </a:solidFill>
          <a:ln w="6350">
            <a:solidFill>
              <a:srgbClr val="333333"/>
            </a:solidFill>
            <a:prstDash val="solid"/>
          </a:ln>
          <a:effectLst>
            <a:outerShdw blurRad="254000" dist="50800" dir="8100000" algn="bl" rotWithShape="0">
              <a:srgbClr val="000000">
                <a:alpha val="5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12673905" y="1938528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929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2646473" y="2304288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ИИ модел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2646473" y="2679192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6666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distilGPT-2 дава </a:t>
            </a:r>
            <a:r>
              <a:rPr lang="bg-BG" sz="950" dirty="0">
                <a:solidFill>
                  <a:srgbClr val="66666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предложения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66666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за следваща дума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14036361" y="2560320"/>
            <a:ext cx="182880" cy="0"/>
          </a:xfrm>
          <a:prstGeom prst="line">
            <a:avLst/>
          </a:prstGeom>
          <a:noFill/>
          <a:ln w="12700">
            <a:solidFill>
              <a:srgbClr val="28282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4255817" y="1828800"/>
            <a:ext cx="1463040" cy="1463040"/>
          </a:xfrm>
          <a:prstGeom prst="rect">
            <a:avLst/>
          </a:prstGeom>
          <a:solidFill>
            <a:srgbClr val="111111"/>
          </a:solidFill>
          <a:ln w="6350">
            <a:solidFill>
              <a:srgbClr val="333333"/>
            </a:solidFill>
            <a:prstDash val="solid"/>
          </a:ln>
          <a:effectLst>
            <a:outerShdw blurRad="254000" dist="50800" dir="8100000" algn="bl" rotWithShape="0">
              <a:srgbClr val="000000">
                <a:alpha val="5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14392977" y="1938528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929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4365545" y="2304288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4365545" y="2679192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6666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Лична база данни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66666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филтрира + буства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15755433" y="2560320"/>
            <a:ext cx="182880" cy="0"/>
          </a:xfrm>
          <a:prstGeom prst="line">
            <a:avLst/>
          </a:prstGeom>
          <a:noFill/>
          <a:ln w="12700">
            <a:solidFill>
              <a:srgbClr val="28282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5974889" y="1828800"/>
            <a:ext cx="1463040" cy="1463040"/>
          </a:xfrm>
          <a:prstGeom prst="rect">
            <a:avLst/>
          </a:prstGeom>
          <a:solidFill>
            <a:srgbClr val="111111"/>
          </a:solidFill>
          <a:ln w="6350">
            <a:solidFill>
              <a:srgbClr val="333333"/>
            </a:solidFill>
            <a:prstDash val="solid"/>
          </a:ln>
          <a:effectLst>
            <a:outerShdw blurRad="254000" dist="50800" dir="8100000" algn="bl" rotWithShape="0">
              <a:srgbClr val="000000">
                <a:alpha val="5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16112049" y="1938528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929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16084617" y="2304288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Изход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16084617" y="2679192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6666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TTS или действие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66666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се изпълнява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10959374" y="3520440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kern="0" spc="1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WebSocket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9313454" y="3749040"/>
            <a:ext cx="2926080" cy="0"/>
          </a:xfrm>
          <a:prstGeom prst="line">
            <a:avLst/>
          </a:prstGeom>
          <a:noFill/>
          <a:ln w="6350">
            <a:solidFill>
              <a:srgbClr val="222222"/>
            </a:solidFill>
            <a:prstDash val="dash"/>
          </a:ln>
        </p:spPr>
      </p:sp>
      <p:sp>
        <p:nvSpPr>
          <p:cNvPr id="30" name="Text 28"/>
          <p:cNvSpPr/>
          <p:nvPr/>
        </p:nvSpPr>
        <p:spPr>
          <a:xfrm>
            <a:off x="12422414" y="352044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kern="0" spc="1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backend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12239534" y="3749040"/>
            <a:ext cx="2926080" cy="0"/>
          </a:xfrm>
          <a:prstGeom prst="line">
            <a:avLst/>
          </a:prstGeom>
          <a:noFill/>
          <a:ln w="6350">
            <a:solidFill>
              <a:srgbClr val="222222"/>
            </a:solidFill>
            <a:prstDash val="dash"/>
          </a:ln>
        </p:spPr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59C4F3BE-B3CA-43D8-8F62-1A6B21A697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3998" y="734637"/>
            <a:ext cx="5976004" cy="39934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782895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80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6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VOXEN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CNN </a:t>
            </a:r>
            <a:r>
              <a:rPr lang="bg-BG" sz="32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моделът</a:t>
            </a:r>
          </a:p>
        </p:txBody>
      </p:sp>
      <p:sp>
        <p:nvSpPr>
          <p:cNvPr id="4" name="Shape 2"/>
          <p:cNvSpPr/>
          <p:nvPr/>
        </p:nvSpPr>
        <p:spPr>
          <a:xfrm>
            <a:off x="365760" y="1508760"/>
            <a:ext cx="7604640" cy="914400"/>
          </a:xfrm>
          <a:prstGeom prst="rect">
            <a:avLst/>
          </a:prstGeom>
          <a:solidFill>
            <a:srgbClr val="111111"/>
          </a:solidFill>
          <a:ln w="6350">
            <a:solidFill>
              <a:srgbClr val="333333"/>
            </a:solidFill>
            <a:prstDash val="solid"/>
          </a:ln>
          <a:effectLst>
            <a:outerShdw blurRad="254000" dist="50800" dir="8100000" algn="bl" rotWithShape="0">
              <a:srgbClr val="000000">
                <a:alpha val="5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773936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bg-BG" sz="16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Как е обучен?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65760" y="2606040"/>
            <a:ext cx="7604640" cy="914400"/>
          </a:xfrm>
          <a:prstGeom prst="rect">
            <a:avLst/>
          </a:prstGeom>
          <a:solidFill>
            <a:srgbClr val="111111"/>
          </a:solidFill>
          <a:ln w="6350">
            <a:solidFill>
              <a:srgbClr val="333333"/>
            </a:solidFill>
            <a:prstDash val="solid"/>
          </a:ln>
          <a:effectLst>
            <a:outerShdw blurRad="254000" dist="50800" dir="8100000" algn="bl" rotWithShape="0">
              <a:srgbClr val="000000">
                <a:alpha val="5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3703320"/>
            <a:ext cx="7604640" cy="914400"/>
          </a:xfrm>
          <a:prstGeom prst="rect">
            <a:avLst/>
          </a:prstGeom>
          <a:solidFill>
            <a:srgbClr val="111111"/>
          </a:solidFill>
          <a:ln w="6350">
            <a:solidFill>
              <a:srgbClr val="333333"/>
            </a:solidFill>
            <a:prstDash val="solid"/>
          </a:ln>
          <a:effectLst>
            <a:outerShdw blurRad="254000" dist="50800" dir="8100000" algn="bl" rotWithShape="0">
              <a:srgbClr val="000000">
                <a:alpha val="50000"/>
              </a:srgbClr>
            </a:outerShdw>
          </a:effectLst>
        </p:spPr>
      </p:sp>
      <p:sp>
        <p:nvSpPr>
          <p:cNvPr id="23" name="Text 4">
            <a:extLst>
              <a:ext uri="{FF2B5EF4-FFF2-40B4-BE49-F238E27FC236}">
                <a16:creationId xmlns:a16="http://schemas.microsoft.com/office/drawing/2014/main" id="{926A0891-E00E-463C-B603-8F021E6307FB}"/>
              </a:ext>
            </a:extLst>
          </p:cNvPr>
          <p:cNvSpPr/>
          <p:nvPr/>
        </p:nvSpPr>
        <p:spPr>
          <a:xfrm>
            <a:off x="594360" y="3968496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bg-BG" sz="16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Как тествахме модела?</a:t>
            </a:r>
            <a:endParaRPr lang="en-US" sz="1200" dirty="0"/>
          </a:p>
        </p:txBody>
      </p:sp>
      <p:sp>
        <p:nvSpPr>
          <p:cNvPr id="24" name="Text 4">
            <a:extLst>
              <a:ext uri="{FF2B5EF4-FFF2-40B4-BE49-F238E27FC236}">
                <a16:creationId xmlns:a16="http://schemas.microsoft.com/office/drawing/2014/main" id="{41B73BD6-4770-47B1-9DF2-B93FA451A3D8}"/>
              </a:ext>
            </a:extLst>
          </p:cNvPr>
          <p:cNvSpPr/>
          <p:nvPr/>
        </p:nvSpPr>
        <p:spPr>
          <a:xfrm>
            <a:off x="595440" y="2871216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bg-BG" sz="16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Как работи моделът?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246827657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8080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6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VOXEN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5200" y="2068830"/>
            <a:ext cx="9144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600" kern="0" spc="12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Демо</a:t>
            </a:r>
            <a:endParaRPr lang="en-US" sz="56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8080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6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VOXEN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Технологии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65760" y="1508760"/>
            <a:ext cx="4114800" cy="914400"/>
          </a:xfrm>
          <a:prstGeom prst="rect">
            <a:avLst/>
          </a:prstGeom>
          <a:solidFill>
            <a:srgbClr val="111111"/>
          </a:solidFill>
          <a:ln w="6350">
            <a:solidFill>
              <a:srgbClr val="333333"/>
            </a:solidFill>
            <a:prstDash val="solid"/>
          </a:ln>
          <a:effectLst>
            <a:outerShdw blurRad="254000" dist="50800" dir="8100000" algn="bl" rotWithShape="0">
              <a:srgbClr val="000000">
                <a:alpha val="5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94360" y="1627632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94360" y="1911096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ESP32 · Raspberry Pi · Eye Tracker · </a:t>
            </a:r>
            <a:r>
              <a:rPr lang="bg-BG" sz="12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Акселерометър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754880" y="1508760"/>
            <a:ext cx="4114800" cy="914400"/>
          </a:xfrm>
          <a:prstGeom prst="rect">
            <a:avLst/>
          </a:prstGeom>
          <a:solidFill>
            <a:srgbClr val="111111"/>
          </a:solidFill>
          <a:ln w="6350">
            <a:solidFill>
              <a:srgbClr val="333333"/>
            </a:solidFill>
            <a:prstDash val="solid"/>
          </a:ln>
          <a:effectLst>
            <a:outerShdw blurRad="254000" dist="50800" dir="8100000" algn="bl" rotWithShape="0">
              <a:srgbClr val="000000">
                <a:alpha val="5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983480" y="1627632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ИИ / ML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983480" y="1911096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distilGPT-2 · HuggingFace Transformers · Logit re-ranking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65760" y="2606040"/>
            <a:ext cx="4114800" cy="914400"/>
          </a:xfrm>
          <a:prstGeom prst="rect">
            <a:avLst/>
          </a:prstGeom>
          <a:solidFill>
            <a:srgbClr val="111111"/>
          </a:solidFill>
          <a:ln w="6350">
            <a:solidFill>
              <a:srgbClr val="333333"/>
            </a:solidFill>
            <a:prstDash val="solid"/>
          </a:ln>
          <a:effectLst>
            <a:outerShdw blurRad="254000" dist="50800" dir="8100000" algn="bl" rotWithShape="0">
              <a:srgbClr val="000000">
                <a:alpha val="5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94360" y="2724912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94360" y="3008376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FastAPI · Python · WebSockets · pymongo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754880" y="2606040"/>
            <a:ext cx="4114800" cy="914400"/>
          </a:xfrm>
          <a:prstGeom prst="rect">
            <a:avLst/>
          </a:prstGeom>
          <a:solidFill>
            <a:srgbClr val="111111"/>
          </a:solidFill>
          <a:ln w="6350">
            <a:solidFill>
              <a:srgbClr val="333333"/>
            </a:solidFill>
            <a:prstDash val="solid"/>
          </a:ln>
          <a:effectLst>
            <a:outerShdw blurRad="254000" dist="50800" dir="8100000" algn="bl" rotWithShape="0">
              <a:srgbClr val="000000">
                <a:alpha val="5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983480" y="2724912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БАЗА ДАННИ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983480" y="3008376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MongoDB · Pydantic схеми · JSON персистиране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65760" y="3703320"/>
            <a:ext cx="4114800" cy="914400"/>
          </a:xfrm>
          <a:prstGeom prst="rect">
            <a:avLst/>
          </a:prstGeom>
          <a:solidFill>
            <a:srgbClr val="111111"/>
          </a:solidFill>
          <a:ln w="6350">
            <a:solidFill>
              <a:srgbClr val="333333"/>
            </a:solidFill>
            <a:prstDash val="solid"/>
          </a:ln>
          <a:effectLst>
            <a:outerShdw blurRad="254000" dist="50800" dir="8100000" algn="bl" rotWithShape="0">
              <a:srgbClr val="000000">
                <a:alpha val="5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94360" y="3822192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594360" y="4105656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React · Vite · WebSocket hook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754880" y="3703320"/>
            <a:ext cx="4114800" cy="914400"/>
          </a:xfrm>
          <a:prstGeom prst="rect">
            <a:avLst/>
          </a:prstGeom>
          <a:solidFill>
            <a:srgbClr val="111111"/>
          </a:solidFill>
          <a:ln w="6350">
            <a:solidFill>
              <a:srgbClr val="333333"/>
            </a:solidFill>
            <a:prstDash val="solid"/>
          </a:ln>
          <a:effectLst>
            <a:outerShdw blurRad="254000" dist="50800" dir="8100000" algn="bl" rotWithShape="0">
              <a:srgbClr val="000000">
                <a:alpha val="5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983480" y="3822192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КОМУНИКАЦИЯ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983480" y="4105656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ESP32 WebSocket сървър · Serial / WiFi</a:t>
            </a:r>
            <a:endParaRPr lang="en-US" sz="12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8080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6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VOXEN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Процес на работа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56616" y="1426464"/>
            <a:ext cx="36576" cy="566928"/>
          </a:xfrm>
          <a:prstGeom prst="rect">
            <a:avLst/>
          </a:prstGeom>
          <a:solidFill>
            <a:srgbClr val="303030"/>
          </a:solidFill>
          <a:ln w="12700">
            <a:solidFill>
              <a:srgbClr val="30303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417320"/>
            <a:ext cx="8229600" cy="585216"/>
          </a:xfrm>
          <a:prstGeom prst="rect">
            <a:avLst/>
          </a:prstGeom>
          <a:solidFill>
            <a:srgbClr val="111111"/>
          </a:solidFill>
          <a:ln w="6350">
            <a:solidFill>
              <a:srgbClr val="333333"/>
            </a:solidFill>
            <a:prstDash val="solid"/>
          </a:ln>
          <a:effectLst>
            <a:outerShdw blurRad="254000" dist="50800" dir="8100000" algn="bl" rotWithShape="0">
              <a:srgbClr val="000000">
                <a:alpha val="5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1490472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Фаза 1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Архитектура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651760" y="1554480"/>
            <a:ext cx="5852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bg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Дефиниране на системата · избор на модел · MongoDB схема</a:t>
            </a:r>
            <a:endParaRPr lang="en-US" sz="1100" dirty="0">
              <a:solidFill>
                <a:schemeClr val="bg1"/>
              </a:solidFill>
            </a:endParaRPr>
          </a:p>
        </p:txBody>
      </p:sp>
      <p:sp>
        <p:nvSpPr>
          <p:cNvPr id="8" name="Shape 6"/>
          <p:cNvSpPr/>
          <p:nvPr/>
        </p:nvSpPr>
        <p:spPr>
          <a:xfrm>
            <a:off x="2560320" y="1490472"/>
            <a:ext cx="0" cy="457200"/>
          </a:xfrm>
          <a:prstGeom prst="line">
            <a:avLst/>
          </a:prstGeom>
          <a:noFill/>
          <a:ln w="6350">
            <a:solidFill>
              <a:srgbClr val="1E1E1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65520" y="2139696"/>
            <a:ext cx="36576" cy="566928"/>
          </a:xfrm>
          <a:prstGeom prst="rect">
            <a:avLst/>
          </a:prstGeom>
          <a:solidFill>
            <a:srgbClr val="303030"/>
          </a:solidFill>
          <a:ln w="12700">
            <a:solidFill>
              <a:srgbClr val="30303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48640" y="2130552"/>
            <a:ext cx="8229600" cy="585216"/>
          </a:xfrm>
          <a:prstGeom prst="rect">
            <a:avLst/>
          </a:prstGeom>
          <a:solidFill>
            <a:srgbClr val="111111"/>
          </a:solidFill>
          <a:ln w="6350">
            <a:solidFill>
              <a:srgbClr val="333333"/>
            </a:solidFill>
            <a:prstDash val="solid"/>
          </a:ln>
          <a:effectLst>
            <a:outerShdw blurRad="254000" dist="50800" dir="8100000" algn="bl" rotWithShape="0">
              <a:srgbClr val="000000">
                <a:alpha val="5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777240" y="2203704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Фаза 2</a:t>
            </a:r>
            <a:endParaRPr lang="en-US" sz="110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sz="11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100" dirty="0">
              <a:solidFill>
                <a:schemeClr val="bg1"/>
              </a:solidFill>
            </a:endParaRPr>
          </a:p>
        </p:txBody>
      </p:sp>
      <p:sp>
        <p:nvSpPr>
          <p:cNvPr id="12" name="Text 10"/>
          <p:cNvSpPr/>
          <p:nvPr/>
        </p:nvSpPr>
        <p:spPr>
          <a:xfrm>
            <a:off x="2651760" y="2267712"/>
            <a:ext cx="5852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bg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FastAPI сървър · WebSocket · логит предсказване · DB филтриране</a:t>
            </a:r>
            <a:endParaRPr lang="en-US" sz="1100" dirty="0">
              <a:solidFill>
                <a:schemeClr val="bg1"/>
              </a:solidFill>
            </a:endParaRPr>
          </a:p>
        </p:txBody>
      </p:sp>
      <p:sp>
        <p:nvSpPr>
          <p:cNvPr id="13" name="Shape 11"/>
          <p:cNvSpPr/>
          <p:nvPr/>
        </p:nvSpPr>
        <p:spPr>
          <a:xfrm>
            <a:off x="2560320" y="2203704"/>
            <a:ext cx="0" cy="457200"/>
          </a:xfrm>
          <a:prstGeom prst="line">
            <a:avLst/>
          </a:prstGeom>
          <a:noFill/>
          <a:ln w="6350">
            <a:solidFill>
              <a:srgbClr val="1E1E1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48640" y="2843784"/>
            <a:ext cx="8229600" cy="585216"/>
          </a:xfrm>
          <a:prstGeom prst="rect">
            <a:avLst/>
          </a:prstGeom>
          <a:solidFill>
            <a:srgbClr val="111111"/>
          </a:solidFill>
          <a:ln w="6350">
            <a:solidFill>
              <a:srgbClr val="333333"/>
            </a:solidFill>
            <a:prstDash val="solid"/>
          </a:ln>
          <a:effectLst>
            <a:outerShdw blurRad="254000" dist="50800" dir="8100000" algn="bl" rotWithShape="0">
              <a:srgbClr val="000000">
                <a:alpha val="5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777240" y="2916936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Фаза 3</a:t>
            </a:r>
            <a:endParaRPr lang="en-US" sz="1100" b="1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sz="11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</a:t>
            </a:r>
            <a:endParaRPr lang="en-US" sz="1100" b="1" dirty="0">
              <a:solidFill>
                <a:schemeClr val="bg1"/>
              </a:solidFill>
            </a:endParaRPr>
          </a:p>
        </p:txBody>
      </p:sp>
      <p:sp>
        <p:nvSpPr>
          <p:cNvPr id="17" name="Text 15"/>
          <p:cNvSpPr/>
          <p:nvPr/>
        </p:nvSpPr>
        <p:spPr>
          <a:xfrm>
            <a:off x="2651760" y="2980944"/>
            <a:ext cx="5852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bg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ESP32 </a:t>
            </a:r>
            <a:r>
              <a:rPr lang="bg-BG" sz="1100" dirty="0">
                <a:solidFill>
                  <a:schemeClr val="bg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и </a:t>
            </a:r>
            <a:r>
              <a:rPr lang="en-US" sz="1100" dirty="0">
                <a:solidFill>
                  <a:schemeClr val="bg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Raspberry Pi интеграция · сензорен стрийм · WebSocket към React</a:t>
            </a:r>
            <a:endParaRPr lang="en-US" sz="1100" dirty="0">
              <a:solidFill>
                <a:schemeClr val="bg1"/>
              </a:solidFill>
            </a:endParaRPr>
          </a:p>
        </p:txBody>
      </p:sp>
      <p:sp>
        <p:nvSpPr>
          <p:cNvPr id="18" name="Shape 16"/>
          <p:cNvSpPr/>
          <p:nvPr/>
        </p:nvSpPr>
        <p:spPr>
          <a:xfrm>
            <a:off x="2560320" y="2916936"/>
            <a:ext cx="0" cy="457200"/>
          </a:xfrm>
          <a:prstGeom prst="line">
            <a:avLst/>
          </a:prstGeom>
          <a:noFill/>
          <a:ln w="6350">
            <a:solidFill>
              <a:srgbClr val="1E1E1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48640" y="3557016"/>
            <a:ext cx="8229600" cy="585216"/>
          </a:xfrm>
          <a:prstGeom prst="rect">
            <a:avLst/>
          </a:prstGeom>
          <a:solidFill>
            <a:srgbClr val="111111"/>
          </a:solidFill>
          <a:ln w="6350">
            <a:solidFill>
              <a:srgbClr val="333333"/>
            </a:solidFill>
            <a:prstDash val="solid"/>
          </a:ln>
          <a:effectLst>
            <a:outerShdw blurRad="254000" dist="50800" dir="8100000" algn="bl" rotWithShape="0">
              <a:srgbClr val="000000">
                <a:alpha val="5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777240" y="3630168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Фаза 4</a:t>
            </a:r>
            <a:endParaRPr lang="en-US" sz="1100" b="1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sz="11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100" b="1" dirty="0">
              <a:solidFill>
                <a:schemeClr val="bg1"/>
              </a:solidFill>
            </a:endParaRPr>
          </a:p>
        </p:txBody>
      </p:sp>
      <p:sp>
        <p:nvSpPr>
          <p:cNvPr id="22" name="Text 20"/>
          <p:cNvSpPr/>
          <p:nvPr/>
        </p:nvSpPr>
        <p:spPr>
          <a:xfrm>
            <a:off x="2651760" y="3694176"/>
            <a:ext cx="5852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bg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React интерфейс · Communicate &amp; Actions · Voxen UI</a:t>
            </a:r>
            <a:endParaRPr lang="en-US" sz="1100" dirty="0">
              <a:solidFill>
                <a:schemeClr val="bg1"/>
              </a:solidFill>
            </a:endParaRPr>
          </a:p>
        </p:txBody>
      </p:sp>
      <p:sp>
        <p:nvSpPr>
          <p:cNvPr id="23" name="Shape 21"/>
          <p:cNvSpPr/>
          <p:nvPr/>
        </p:nvSpPr>
        <p:spPr>
          <a:xfrm>
            <a:off x="2560320" y="3630168"/>
            <a:ext cx="0" cy="457200"/>
          </a:xfrm>
          <a:prstGeom prst="line">
            <a:avLst/>
          </a:prstGeom>
          <a:noFill/>
          <a:ln w="6350">
            <a:solidFill>
              <a:srgbClr val="1E1E1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48640" y="4270248"/>
            <a:ext cx="8229600" cy="585216"/>
          </a:xfrm>
          <a:prstGeom prst="rect">
            <a:avLst/>
          </a:prstGeom>
          <a:solidFill>
            <a:srgbClr val="111111"/>
          </a:solidFill>
          <a:ln w="6350">
            <a:solidFill>
              <a:srgbClr val="333333"/>
            </a:solidFill>
            <a:prstDash val="solid"/>
          </a:ln>
          <a:effectLst>
            <a:outerShdw blurRad="254000" dist="50800" dir="8100000" algn="bl" rotWithShape="0">
              <a:srgbClr val="000000">
                <a:alpha val="5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777240" y="434340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Фаза 5</a:t>
            </a:r>
            <a:endParaRPr lang="en-US" sz="1100" b="1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sz="11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Интеграция</a:t>
            </a:r>
            <a:endParaRPr lang="en-US" sz="1100" b="1" dirty="0">
              <a:solidFill>
                <a:schemeClr val="bg1"/>
              </a:solidFill>
            </a:endParaRPr>
          </a:p>
        </p:txBody>
      </p:sp>
      <p:sp>
        <p:nvSpPr>
          <p:cNvPr id="27" name="Text 25"/>
          <p:cNvSpPr/>
          <p:nvPr/>
        </p:nvSpPr>
        <p:spPr>
          <a:xfrm>
            <a:off x="2651760" y="4407408"/>
            <a:ext cx="5852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bg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End-to-end тест · TTS · Action Space · финал</a:t>
            </a:r>
            <a:endParaRPr lang="en-US" sz="1100" dirty="0">
              <a:solidFill>
                <a:schemeClr val="bg1"/>
              </a:solidFill>
            </a:endParaRPr>
          </a:p>
        </p:txBody>
      </p:sp>
      <p:sp>
        <p:nvSpPr>
          <p:cNvPr id="28" name="Shape 26"/>
          <p:cNvSpPr/>
          <p:nvPr/>
        </p:nvSpPr>
        <p:spPr>
          <a:xfrm>
            <a:off x="2560320" y="4343400"/>
            <a:ext cx="0" cy="457200"/>
          </a:xfrm>
          <a:prstGeom prst="line">
            <a:avLst/>
          </a:prstGeom>
          <a:noFill/>
          <a:ln w="6350">
            <a:solidFill>
              <a:srgbClr val="1E1E1E"/>
            </a:solidFill>
            <a:prstDash val="solid"/>
          </a:ln>
        </p:spPr>
      </p:sp>
      <p:sp>
        <p:nvSpPr>
          <p:cNvPr id="30" name="Shape 7">
            <a:extLst>
              <a:ext uri="{FF2B5EF4-FFF2-40B4-BE49-F238E27FC236}">
                <a16:creationId xmlns:a16="http://schemas.microsoft.com/office/drawing/2014/main" id="{FB7D893F-492D-49E2-93D1-44902539BDE3}"/>
              </a:ext>
            </a:extLst>
          </p:cNvPr>
          <p:cNvSpPr/>
          <p:nvPr/>
        </p:nvSpPr>
        <p:spPr>
          <a:xfrm>
            <a:off x="367704" y="2852928"/>
            <a:ext cx="36576" cy="566928"/>
          </a:xfrm>
          <a:prstGeom prst="rect">
            <a:avLst/>
          </a:prstGeom>
          <a:solidFill>
            <a:srgbClr val="303030"/>
          </a:solidFill>
          <a:ln w="12700">
            <a:solidFill>
              <a:srgbClr val="303030"/>
            </a:solidFill>
            <a:prstDash val="solid"/>
          </a:ln>
        </p:spPr>
      </p:sp>
      <p:sp>
        <p:nvSpPr>
          <p:cNvPr id="31" name="Shape 7">
            <a:extLst>
              <a:ext uri="{FF2B5EF4-FFF2-40B4-BE49-F238E27FC236}">
                <a16:creationId xmlns:a16="http://schemas.microsoft.com/office/drawing/2014/main" id="{E04F9842-6893-45EA-B814-5EE67C209B99}"/>
              </a:ext>
            </a:extLst>
          </p:cNvPr>
          <p:cNvSpPr/>
          <p:nvPr/>
        </p:nvSpPr>
        <p:spPr>
          <a:xfrm>
            <a:off x="366960" y="3584448"/>
            <a:ext cx="36576" cy="566928"/>
          </a:xfrm>
          <a:prstGeom prst="rect">
            <a:avLst/>
          </a:prstGeom>
          <a:solidFill>
            <a:srgbClr val="303030"/>
          </a:solidFill>
          <a:ln w="12700">
            <a:solidFill>
              <a:srgbClr val="303030"/>
            </a:solidFill>
            <a:prstDash val="solid"/>
          </a:ln>
        </p:spPr>
      </p:sp>
      <p:sp>
        <p:nvSpPr>
          <p:cNvPr id="32" name="Shape 7">
            <a:extLst>
              <a:ext uri="{FF2B5EF4-FFF2-40B4-BE49-F238E27FC236}">
                <a16:creationId xmlns:a16="http://schemas.microsoft.com/office/drawing/2014/main" id="{47230AFB-25E5-48F1-AAC8-C078B670F43E}"/>
              </a:ext>
            </a:extLst>
          </p:cNvPr>
          <p:cNvSpPr/>
          <p:nvPr/>
        </p:nvSpPr>
        <p:spPr>
          <a:xfrm>
            <a:off x="366960" y="4279392"/>
            <a:ext cx="36576" cy="566928"/>
          </a:xfrm>
          <a:prstGeom prst="rect">
            <a:avLst/>
          </a:prstGeom>
          <a:solidFill>
            <a:srgbClr val="303030"/>
          </a:solidFill>
          <a:ln w="12700">
            <a:solidFill>
              <a:srgbClr val="303030"/>
            </a:solidFill>
            <a:prstDash val="solid"/>
          </a:ln>
        </p:spPr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80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6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VOXEN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5200" y="2068830"/>
            <a:ext cx="9144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ru-RU" sz="4800" kern="0" spc="12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Какви проблеми срещнахме?</a:t>
            </a:r>
            <a:endParaRPr lang="en-US" sz="4800" dirty="0"/>
          </a:p>
        </p:txBody>
      </p:sp>
    </p:spTree>
    <p:extLst>
      <p:ext uri="{BB962C8B-B14F-4D97-AF65-F5344CB8AC3E}">
        <p14:creationId xmlns:p14="http://schemas.microsoft.com/office/powerpoint/2010/main" val="112199824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80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Shape 17">
            <a:extLst>
              <a:ext uri="{FF2B5EF4-FFF2-40B4-BE49-F238E27FC236}">
                <a16:creationId xmlns:a16="http://schemas.microsoft.com/office/drawing/2014/main" id="{C27B2D8A-E552-426C-A728-7D31B247FB9C}"/>
              </a:ext>
            </a:extLst>
          </p:cNvPr>
          <p:cNvSpPr/>
          <p:nvPr/>
        </p:nvSpPr>
        <p:spPr>
          <a:xfrm flipV="1">
            <a:off x="372960" y="3933432"/>
            <a:ext cx="6639840" cy="548640"/>
          </a:xfrm>
          <a:prstGeom prst="rect">
            <a:avLst/>
          </a:prstGeom>
          <a:solidFill>
            <a:srgbClr val="111111"/>
          </a:solidFill>
          <a:ln w="6350">
            <a:solidFill>
              <a:srgbClr val="333333"/>
            </a:solidFill>
            <a:prstDash val="solid"/>
          </a:ln>
          <a:effectLst>
            <a:outerShdw blurRad="254000" dist="50800" dir="8100000" algn="bl" rotWithShape="0">
              <a:srgbClr val="000000">
                <a:alpha val="50000"/>
              </a:srgbClr>
            </a:outerShdw>
          </a:effectLst>
        </p:spPr>
      </p:sp>
      <p:sp>
        <p:nvSpPr>
          <p:cNvPr id="2" name="Text 0"/>
          <p:cNvSpPr/>
          <p:nvPr/>
        </p:nvSpPr>
        <p:spPr>
          <a:xfrm>
            <a:off x="411480" y="25603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6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VOXEN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bg-BG" sz="32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Следващи стъпки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 flipV="1">
            <a:off x="372960" y="1795320"/>
            <a:ext cx="6639840" cy="548640"/>
          </a:xfrm>
          <a:prstGeom prst="rect">
            <a:avLst/>
          </a:prstGeom>
          <a:solidFill>
            <a:srgbClr val="111111"/>
          </a:solidFill>
          <a:ln w="6350">
            <a:solidFill>
              <a:srgbClr val="333333"/>
            </a:solidFill>
            <a:prstDash val="solid"/>
          </a:ln>
          <a:effectLst>
            <a:outerShdw blurRad="254000" dist="50800" dir="8100000" algn="bl" rotWithShape="0">
              <a:srgbClr val="000000">
                <a:alpha val="5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10120" y="1877616"/>
            <a:ext cx="5902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bg-BG" sz="12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Интеграция със </a:t>
            </a:r>
            <a:r>
              <a:rPr lang="en-US" sz="12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Smart Home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 flipV="1">
            <a:off x="372960" y="2510136"/>
            <a:ext cx="6639840" cy="548640"/>
          </a:xfrm>
          <a:prstGeom prst="rect">
            <a:avLst/>
          </a:prstGeom>
          <a:solidFill>
            <a:srgbClr val="111111"/>
          </a:solidFill>
          <a:ln w="6350">
            <a:solidFill>
              <a:srgbClr val="333333"/>
            </a:solidFill>
            <a:prstDash val="solid"/>
          </a:ln>
          <a:effectLst>
            <a:outerShdw blurRad="254000" dist="50800" dir="81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510120" y="2590416"/>
            <a:ext cx="5902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u-RU" sz="12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Повече входни методи</a:t>
            </a:r>
            <a:r>
              <a:rPr lang="en-US" sz="12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 </a:t>
            </a:r>
            <a:r>
              <a:rPr lang="ru-RU" sz="12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(EMG / EEG) и предварителни настройки</a:t>
            </a:r>
          </a:p>
        </p:txBody>
      </p:sp>
      <p:sp>
        <p:nvSpPr>
          <p:cNvPr id="13" name="Shape 11"/>
          <p:cNvSpPr/>
          <p:nvPr/>
        </p:nvSpPr>
        <p:spPr>
          <a:xfrm flipV="1">
            <a:off x="372960" y="3221784"/>
            <a:ext cx="6639840" cy="548640"/>
          </a:xfrm>
          <a:prstGeom prst="rect">
            <a:avLst/>
          </a:prstGeom>
          <a:solidFill>
            <a:srgbClr val="111111"/>
          </a:solidFill>
          <a:ln w="6350">
            <a:solidFill>
              <a:srgbClr val="333333"/>
            </a:solidFill>
            <a:prstDash val="solid"/>
          </a:ln>
          <a:effectLst>
            <a:outerShdw blurRad="254000" dist="50800" dir="8100000" algn="bl" rotWithShape="0">
              <a:srgbClr val="000000">
                <a:alpha val="5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07960" y="3308094"/>
            <a:ext cx="5902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bg-BG" sz="12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Работа офлайн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07960" y="4029984"/>
            <a:ext cx="5902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bg-BG" sz="12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Многоезична поддръжка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4746572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80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6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VOXEN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bg-BG" sz="32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Нашето преживяване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65760" y="1508760"/>
            <a:ext cx="7604640" cy="914400"/>
          </a:xfrm>
          <a:prstGeom prst="rect">
            <a:avLst/>
          </a:prstGeom>
          <a:solidFill>
            <a:srgbClr val="111111"/>
          </a:solidFill>
          <a:ln w="6350">
            <a:solidFill>
              <a:srgbClr val="333333"/>
            </a:solidFill>
            <a:prstDash val="solid"/>
          </a:ln>
          <a:effectLst>
            <a:outerShdw blurRad="254000" dist="50800" dir="8100000" algn="bl" rotWithShape="0">
              <a:srgbClr val="000000">
                <a:alpha val="5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773936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bg-BG" sz="16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Нашият</a:t>
            </a:r>
            <a:r>
              <a:rPr lang="bg-BG" sz="12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 </a:t>
            </a:r>
            <a:r>
              <a:rPr lang="bg-BG" sz="16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екип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65760" y="2606040"/>
            <a:ext cx="7604640" cy="914400"/>
          </a:xfrm>
          <a:prstGeom prst="rect">
            <a:avLst/>
          </a:prstGeom>
          <a:solidFill>
            <a:srgbClr val="111111"/>
          </a:solidFill>
          <a:ln w="6350">
            <a:solidFill>
              <a:srgbClr val="333333"/>
            </a:solidFill>
            <a:prstDash val="solid"/>
          </a:ln>
          <a:effectLst>
            <a:outerShdw blurRad="254000" dist="50800" dir="8100000" algn="bl" rotWithShape="0">
              <a:srgbClr val="000000">
                <a:alpha val="5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3703320"/>
            <a:ext cx="7604640" cy="914400"/>
          </a:xfrm>
          <a:prstGeom prst="rect">
            <a:avLst/>
          </a:prstGeom>
          <a:solidFill>
            <a:srgbClr val="111111"/>
          </a:solidFill>
          <a:ln w="6350">
            <a:solidFill>
              <a:srgbClr val="333333"/>
            </a:solidFill>
            <a:prstDash val="solid"/>
          </a:ln>
          <a:effectLst>
            <a:outerShdw blurRad="254000" dist="50800" dir="8100000" algn="bl" rotWithShape="0">
              <a:srgbClr val="000000">
                <a:alpha val="50000"/>
              </a:srgbClr>
            </a:outerShdw>
          </a:effectLst>
        </p:spPr>
      </p:sp>
      <p:sp>
        <p:nvSpPr>
          <p:cNvPr id="24" name="Text 4">
            <a:extLst>
              <a:ext uri="{FF2B5EF4-FFF2-40B4-BE49-F238E27FC236}">
                <a16:creationId xmlns:a16="http://schemas.microsoft.com/office/drawing/2014/main" id="{41B73BD6-4770-47B1-9DF2-B93FA451A3D8}"/>
              </a:ext>
            </a:extLst>
          </p:cNvPr>
          <p:cNvSpPr/>
          <p:nvPr/>
        </p:nvSpPr>
        <p:spPr>
          <a:xfrm>
            <a:off x="595440" y="2871216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bg-BG" sz="16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Нашият</a:t>
            </a:r>
            <a:r>
              <a:rPr lang="bg-BG" sz="12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 </a:t>
            </a:r>
            <a:r>
              <a:rPr lang="bg-BG" sz="16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ментор</a:t>
            </a:r>
            <a:endParaRPr lang="en-US" sz="1200" dirty="0"/>
          </a:p>
        </p:txBody>
      </p:sp>
      <p:sp>
        <p:nvSpPr>
          <p:cNvPr id="25" name="Text 4">
            <a:extLst>
              <a:ext uri="{FF2B5EF4-FFF2-40B4-BE49-F238E27FC236}">
                <a16:creationId xmlns:a16="http://schemas.microsoft.com/office/drawing/2014/main" id="{D8E4D1EB-1760-4AE8-9AA1-7242B1DD8B1F}"/>
              </a:ext>
            </a:extLst>
          </p:cNvPr>
          <p:cNvSpPr/>
          <p:nvPr/>
        </p:nvSpPr>
        <p:spPr>
          <a:xfrm>
            <a:off x="595440" y="3968496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bg-BG" sz="16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Какво научихме от Хакатона</a:t>
            </a:r>
          </a:p>
        </p:txBody>
      </p:sp>
    </p:spTree>
    <p:extLst>
      <p:ext uri="{BB962C8B-B14F-4D97-AF65-F5344CB8AC3E}">
        <p14:creationId xmlns:p14="http://schemas.microsoft.com/office/powerpoint/2010/main" val="327336121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442</TotalTime>
  <Words>500</Words>
  <Application>Microsoft Office PowerPoint</Application>
  <PresentationFormat>On-screen Show (16:9)</PresentationFormat>
  <Paragraphs>150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Voxen</dc:title>
  <dc:subject>PptxGenJS Presentation</dc:subject>
  <dc:creator>PptxGenJS</dc:creator>
  <cp:lastModifiedBy>Teodor Penev</cp:lastModifiedBy>
  <cp:revision>31</cp:revision>
  <dcterms:created xsi:type="dcterms:W3CDTF">2026-03-27T13:49:03Z</dcterms:created>
  <dcterms:modified xsi:type="dcterms:W3CDTF">2026-03-28T03:44:10Z</dcterms:modified>
</cp:coreProperties>
</file>