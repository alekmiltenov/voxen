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72" r:id="rId4"/>
    <p:sldId id="273" r:id="rId5"/>
    <p:sldId id="258" r:id="rId6"/>
    <p:sldId id="264" r:id="rId7"/>
    <p:sldId id="266" r:id="rId8"/>
    <p:sldId id="270" r:id="rId9"/>
    <p:sldId id="261" r:id="rId10"/>
    <p:sldId id="262" r:id="rId11"/>
    <p:sldId id="263" r:id="rId12"/>
    <p:sldId id="26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655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447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443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866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700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024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206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7764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8056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8348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kern="0" spc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VOXEN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AAC система за хора с двигателни увреждания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4480560"/>
            <a:ext cx="146304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4663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 TUES 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108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0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0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0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000" dirty="0" err="1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следи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000" dirty="0" err="1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поглед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6AD5BAD-A220-44C4-92F0-18BEA267C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230" y="484632"/>
            <a:ext cx="5579540" cy="4182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524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0AF473-C6CB-401D-BBE0-C51D646C7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92" y="587829"/>
            <a:ext cx="7242216" cy="3967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6219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Цел на проекта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8412480" cy="13716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002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Достъпна, бърза и персонализирана комуникация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хора с двигателни увреждания - навсякъде.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Достъпност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Low-cost hardware,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source software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10712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10712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 50ms от сигнал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 предложение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9904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72784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Персонализация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72784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Учи се от потребителя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автоматично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 какво се отличаваме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7280" y="2462535"/>
            <a:ext cx="8389440" cy="2197413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37200" y="26032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какво се отличаваме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2688" y="3198420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0080" y="2851686"/>
            <a:ext cx="7199541" cy="7396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Нашата система е като мултиизмерен език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в същото време е </a:t>
            </a: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адаптивна, гъвкава и достъпна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2688" y="3668148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5680" y="3396663"/>
            <a:ext cx="7128332" cy="5976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Системата е модулна, което позволява лесна замяна на входните методи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(EEG, EMG).</a:t>
            </a:r>
            <a:endParaRPr lang="en-US" sz="1200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CCD066B9-DECD-49FA-84C5-297B514556A4}"/>
              </a:ext>
            </a:extLst>
          </p:cNvPr>
          <p:cNvSpPr/>
          <p:nvPr/>
        </p:nvSpPr>
        <p:spPr>
          <a:xfrm>
            <a:off x="370080" y="1601847"/>
            <a:ext cx="8389440" cy="757512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D485E91F-615A-45C8-9A19-A82A7767FE84}"/>
              </a:ext>
            </a:extLst>
          </p:cNvPr>
          <p:cNvSpPr/>
          <p:nvPr/>
        </p:nvSpPr>
        <p:spPr>
          <a:xfrm>
            <a:off x="638675" y="2027016"/>
            <a:ext cx="76731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09485891-9319-44AA-AFF7-13FAF9191BBE}"/>
              </a:ext>
            </a:extLst>
          </p:cNvPr>
          <p:cNvSpPr/>
          <p:nvPr/>
        </p:nvSpPr>
        <p:spPr>
          <a:xfrm>
            <a:off x="610560" y="1653372"/>
            <a:ext cx="3946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идея</a:t>
            </a:r>
            <a:endParaRPr lang="en-US" sz="11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832CADF-66A1-48DA-9911-2AF167CAD2A6}"/>
              </a:ext>
            </a:extLst>
          </p:cNvPr>
          <p:cNvSpPr/>
          <p:nvPr/>
        </p:nvSpPr>
        <p:spPr>
          <a:xfrm>
            <a:off x="809892" y="1857348"/>
            <a:ext cx="733212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Технологията трябва да се адаптира към потребителя, вместо потребителят да се адаптира към технологията.</a:t>
            </a:r>
            <a:endParaRPr lang="en-US" sz="1200" dirty="0"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9E352E93-9E22-4611-9A30-6B0009F4A3F4}"/>
              </a:ext>
            </a:extLst>
          </p:cNvPr>
          <p:cNvSpPr/>
          <p:nvPr/>
        </p:nvSpPr>
        <p:spPr>
          <a:xfrm>
            <a:off x="671088" y="4158948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6AAE4E18-6555-4889-AAFF-555B8C32EA96}"/>
              </a:ext>
            </a:extLst>
          </p:cNvPr>
          <p:cNvSpPr/>
          <p:nvPr/>
        </p:nvSpPr>
        <p:spPr>
          <a:xfrm>
            <a:off x="805680" y="3923474"/>
            <a:ext cx="7128332" cy="5976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Основното ни предимство е, че системата се персонализира за всеки човек, вместо да предлага еднакво решение за всички.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204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207138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235761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208329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Сензори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08329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чете eye tracking,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и сензора за допир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598217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17673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54833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27401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27401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показва думи,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потребителят избира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317289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36745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673905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646473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модел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46473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дава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предложения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следваща дума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4036361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255817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4392977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365545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365545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Лична база данни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филтрира + буства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5755433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974889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6112049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084617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84617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TTS или действие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се изпълнява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959374" y="3520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13454" y="3749040"/>
            <a:ext cx="292608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2422414" y="3520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2239534" y="3749040"/>
            <a:ext cx="292608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dash"/>
          </a:ln>
        </p:spPr>
      </p:sp>
      <p:sp>
        <p:nvSpPr>
          <p:cNvPr id="33" name="Text 1">
            <a:extLst>
              <a:ext uri="{FF2B5EF4-FFF2-40B4-BE49-F238E27FC236}">
                <a16:creationId xmlns:a16="http://schemas.microsoft.com/office/drawing/2014/main" id="{0DB9A64D-32CC-44EA-9137-D2E8CEFF4C51}"/>
              </a:ext>
            </a:extLst>
          </p:cNvPr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 Voxen?</a:t>
            </a:r>
            <a:endParaRPr lang="en-US" sz="32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62CA7FAD-B4BB-4289-8730-8EB1BB6EF56B}"/>
              </a:ext>
            </a:extLst>
          </p:cNvPr>
          <p:cNvSpPr/>
          <p:nvPr/>
        </p:nvSpPr>
        <p:spPr>
          <a:xfrm>
            <a:off x="274320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B95DF1BE-A8EA-4977-8C5F-70C222B718E3}"/>
              </a:ext>
            </a:extLst>
          </p:cNvPr>
          <p:cNvSpPr/>
          <p:nvPr/>
        </p:nvSpPr>
        <p:spPr>
          <a:xfrm>
            <a:off x="411480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CB19C2D-E22A-4E40-BE8A-F5E2C4F09CDE}"/>
              </a:ext>
            </a:extLst>
          </p:cNvPr>
          <p:cNvSpPr/>
          <p:nvPr/>
        </p:nvSpPr>
        <p:spPr>
          <a:xfrm>
            <a:off x="384048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Входни данни</a:t>
            </a:r>
            <a:endParaRPr lang="en-US" sz="13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DC8BD78-CCBD-407C-9B58-B8E8D0266C48}"/>
              </a:ext>
            </a:extLst>
          </p:cNvPr>
          <p:cNvSpPr/>
          <p:nvPr/>
        </p:nvSpPr>
        <p:spPr>
          <a:xfrm>
            <a:off x="384048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 </a:t>
            </a: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b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</a:b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Raspberry Pi, laptop camera - eye tracking</a:t>
            </a: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02577663-DE61-4FE5-AEF0-625B3F1BABEF}"/>
              </a:ext>
            </a:extLst>
          </p:cNvPr>
          <p:cNvSpPr/>
          <p:nvPr/>
        </p:nvSpPr>
        <p:spPr>
          <a:xfrm>
            <a:off x="1773936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BFDBA172-02C7-4DE0-B44F-297410924E96}"/>
              </a:ext>
            </a:extLst>
          </p:cNvPr>
          <p:cNvSpPr/>
          <p:nvPr/>
        </p:nvSpPr>
        <p:spPr>
          <a:xfrm>
            <a:off x="1993392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950F78D-1249-4779-9AAF-8BA421935FA8}"/>
              </a:ext>
            </a:extLst>
          </p:cNvPr>
          <p:cNvSpPr/>
          <p:nvPr/>
        </p:nvSpPr>
        <p:spPr>
          <a:xfrm>
            <a:off x="2130552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0EDE36D8-BE33-4FE2-91CB-2ABE6549BDBB}"/>
              </a:ext>
            </a:extLst>
          </p:cNvPr>
          <p:cNvSpPr/>
          <p:nvPr/>
        </p:nvSpPr>
        <p:spPr>
          <a:xfrm>
            <a:off x="2103120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3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C8374CAC-CCE2-4B0B-9801-29CFFD3F29B2}"/>
              </a:ext>
            </a:extLst>
          </p:cNvPr>
          <p:cNvSpPr/>
          <p:nvPr/>
        </p:nvSpPr>
        <p:spPr>
          <a:xfrm>
            <a:off x="2103120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показва думи,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потребителят избира</a:t>
            </a:r>
            <a:endParaRPr lang="en-US" sz="95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7934574D-9196-4E33-ABEA-D735D0CD0DEA}"/>
              </a:ext>
            </a:extLst>
          </p:cNvPr>
          <p:cNvSpPr/>
          <p:nvPr/>
        </p:nvSpPr>
        <p:spPr>
          <a:xfrm>
            <a:off x="3493008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C4DDA5C4-05E6-4B02-B6F3-174A5147829F}"/>
              </a:ext>
            </a:extLst>
          </p:cNvPr>
          <p:cNvSpPr/>
          <p:nvPr/>
        </p:nvSpPr>
        <p:spPr>
          <a:xfrm>
            <a:off x="3712464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24E93824-6A54-496E-9ECC-E7E228271576}"/>
              </a:ext>
            </a:extLst>
          </p:cNvPr>
          <p:cNvSpPr/>
          <p:nvPr/>
        </p:nvSpPr>
        <p:spPr>
          <a:xfrm>
            <a:off x="3849624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A0EA364E-F4F2-4657-A41D-0521CDF2BC90}"/>
              </a:ext>
            </a:extLst>
          </p:cNvPr>
          <p:cNvSpPr/>
          <p:nvPr/>
        </p:nvSpPr>
        <p:spPr>
          <a:xfrm>
            <a:off x="3822192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модел</a:t>
            </a:r>
            <a:endParaRPr lang="en-US" sz="13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D117B4F7-EE91-4DC7-97FD-202C43003688}"/>
              </a:ext>
            </a:extLst>
          </p:cNvPr>
          <p:cNvSpPr/>
          <p:nvPr/>
        </p:nvSpPr>
        <p:spPr>
          <a:xfrm>
            <a:off x="3822192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дава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предложения</a:t>
            </a:r>
            <a:endParaRPr lang="bg-BG" sz="950" dirty="0"/>
          </a:p>
          <a:p>
            <a:pPr marL="0" indent="0">
              <a:buNone/>
            </a:pPr>
            <a:r>
              <a:rPr lang="ru-RU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Engram - управл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ява</a:t>
            </a:r>
            <a:r>
              <a:rPr lang="ru-RU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информацията</a:t>
            </a:r>
            <a:endParaRPr lang="en-US" sz="95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A0730996-E264-46EB-8B4B-FCF1C9B360AE}"/>
              </a:ext>
            </a:extLst>
          </p:cNvPr>
          <p:cNvSpPr/>
          <p:nvPr/>
        </p:nvSpPr>
        <p:spPr>
          <a:xfrm>
            <a:off x="5212080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E4ED292D-4401-41A2-82FC-1BFD3ED9F493}"/>
              </a:ext>
            </a:extLst>
          </p:cNvPr>
          <p:cNvSpPr/>
          <p:nvPr/>
        </p:nvSpPr>
        <p:spPr>
          <a:xfrm>
            <a:off x="5431536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512347BE-F081-41FA-81D6-73F8C992C2FD}"/>
              </a:ext>
            </a:extLst>
          </p:cNvPr>
          <p:cNvSpPr/>
          <p:nvPr/>
        </p:nvSpPr>
        <p:spPr>
          <a:xfrm>
            <a:off x="5568696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D67352B4-696E-4D0F-A48A-988EFF05A64C}"/>
              </a:ext>
            </a:extLst>
          </p:cNvPr>
          <p:cNvSpPr/>
          <p:nvPr/>
        </p:nvSpPr>
        <p:spPr>
          <a:xfrm>
            <a:off x="5541264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524F5842-2C3E-4FD7-99B1-94D7360301E0}"/>
              </a:ext>
            </a:extLst>
          </p:cNvPr>
          <p:cNvSpPr/>
          <p:nvPr/>
        </p:nvSpPr>
        <p:spPr>
          <a:xfrm>
            <a:off x="5541264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Лична база данни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филтрира</a:t>
            </a:r>
            <a:endParaRPr lang="en-US" sz="950" dirty="0"/>
          </a:p>
        </p:txBody>
      </p:sp>
      <p:sp>
        <p:nvSpPr>
          <p:cNvPr id="53" name="Shape 21">
            <a:extLst>
              <a:ext uri="{FF2B5EF4-FFF2-40B4-BE49-F238E27FC236}">
                <a16:creationId xmlns:a16="http://schemas.microsoft.com/office/drawing/2014/main" id="{C5619D55-268A-4A91-AF3D-2229807CB8FA}"/>
              </a:ext>
            </a:extLst>
          </p:cNvPr>
          <p:cNvSpPr/>
          <p:nvPr/>
        </p:nvSpPr>
        <p:spPr>
          <a:xfrm>
            <a:off x="6931152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</p:sp>
      <p:sp>
        <p:nvSpPr>
          <p:cNvPr id="54" name="Shape 22">
            <a:extLst>
              <a:ext uri="{FF2B5EF4-FFF2-40B4-BE49-F238E27FC236}">
                <a16:creationId xmlns:a16="http://schemas.microsoft.com/office/drawing/2014/main" id="{D5FBC90F-ACCE-4574-8555-1B0303BECA92}"/>
              </a:ext>
            </a:extLst>
          </p:cNvPr>
          <p:cNvSpPr/>
          <p:nvPr/>
        </p:nvSpPr>
        <p:spPr>
          <a:xfrm>
            <a:off x="7150608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5" name="Text 23">
            <a:extLst>
              <a:ext uri="{FF2B5EF4-FFF2-40B4-BE49-F238E27FC236}">
                <a16:creationId xmlns:a16="http://schemas.microsoft.com/office/drawing/2014/main" id="{66EDDFAB-00AA-4827-84B5-219B9182395F}"/>
              </a:ext>
            </a:extLst>
          </p:cNvPr>
          <p:cNvSpPr/>
          <p:nvPr/>
        </p:nvSpPr>
        <p:spPr>
          <a:xfrm>
            <a:off x="7287768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C9B515B7-A3F1-4682-AD5B-8E194396F625}"/>
              </a:ext>
            </a:extLst>
          </p:cNvPr>
          <p:cNvSpPr/>
          <p:nvPr/>
        </p:nvSpPr>
        <p:spPr>
          <a:xfrm>
            <a:off x="7260336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</a:t>
            </a:r>
            <a:endParaRPr lang="en-US" sz="1300" dirty="0"/>
          </a:p>
        </p:txBody>
      </p:sp>
      <p:sp>
        <p:nvSpPr>
          <p:cNvPr id="57" name="Text 25">
            <a:extLst>
              <a:ext uri="{FF2B5EF4-FFF2-40B4-BE49-F238E27FC236}">
                <a16:creationId xmlns:a16="http://schemas.microsoft.com/office/drawing/2014/main" id="{2508324A-744C-4E6E-BABF-B5FC45317043}"/>
              </a:ext>
            </a:extLst>
          </p:cNvPr>
          <p:cNvSpPr/>
          <p:nvPr/>
        </p:nvSpPr>
        <p:spPr>
          <a:xfrm>
            <a:off x="7260336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TTS или действие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се изпълнява</a:t>
            </a:r>
            <a:endParaRPr lang="en-US" sz="950" dirty="0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61F92334-F90E-4A6A-8354-8880296B1CF1}"/>
              </a:ext>
            </a:extLst>
          </p:cNvPr>
          <p:cNvSpPr/>
          <p:nvPr/>
        </p:nvSpPr>
        <p:spPr>
          <a:xfrm>
            <a:off x="2856204" y="3520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4581F5C7-8EFB-4B9D-BCEA-6F3AF2CF1838}"/>
              </a:ext>
            </a:extLst>
          </p:cNvPr>
          <p:cNvSpPr/>
          <p:nvPr/>
        </p:nvSpPr>
        <p:spPr>
          <a:xfrm>
            <a:off x="1463040" y="3749040"/>
            <a:ext cx="2926080" cy="0"/>
          </a:xfrm>
          <a:prstGeom prst="line">
            <a:avLst/>
          </a:pr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C2C10F93-175A-486C-B9A7-BA268768DF04}"/>
              </a:ext>
            </a:extLst>
          </p:cNvPr>
          <p:cNvSpPr/>
          <p:nvPr/>
        </p:nvSpPr>
        <p:spPr>
          <a:xfrm>
            <a:off x="4393581" y="3520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62C883D7-9BDA-4602-8140-46C7AAD7521A}"/>
              </a:ext>
            </a:extLst>
          </p:cNvPr>
          <p:cNvSpPr/>
          <p:nvPr/>
        </p:nvSpPr>
        <p:spPr>
          <a:xfrm>
            <a:off x="4389120" y="3749040"/>
            <a:ext cx="3022724" cy="0"/>
          </a:xfrm>
          <a:prstGeom prst="line">
            <a:avLst/>
          </a:pr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</p:sp>
      <p:sp>
        <p:nvSpPr>
          <p:cNvPr id="62" name="Text 26">
            <a:extLst>
              <a:ext uri="{FF2B5EF4-FFF2-40B4-BE49-F238E27FC236}">
                <a16:creationId xmlns:a16="http://schemas.microsoft.com/office/drawing/2014/main" id="{1A4010C5-C6EB-4183-8F36-9979900E13E2}"/>
              </a:ext>
            </a:extLst>
          </p:cNvPr>
          <p:cNvSpPr/>
          <p:nvPr/>
        </p:nvSpPr>
        <p:spPr>
          <a:xfrm>
            <a:off x="1916634" y="3812975"/>
            <a:ext cx="531073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→ WebSocket → FastAPI → MongoDB → distilGPT-2 → WebSocket → React → TTS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7828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CNN </a:t>
            </a: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моделът</a:t>
            </a:r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773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е обучен?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70332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926A0891-E00E-463C-B603-8F021E6307FB}"/>
              </a:ext>
            </a:extLst>
          </p:cNvPr>
          <p:cNvSpPr/>
          <p:nvPr/>
        </p:nvSpPr>
        <p:spPr>
          <a:xfrm>
            <a:off x="594360" y="39684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тествахме модела?</a:t>
            </a:r>
            <a:endParaRPr lang="en-US" sz="12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1B73BD6-4770-47B1-9DF2-B93FA451A3D8}"/>
              </a:ext>
            </a:extLst>
          </p:cNvPr>
          <p:cNvSpPr/>
          <p:nvPr/>
        </p:nvSpPr>
        <p:spPr>
          <a:xfrm>
            <a:off x="595440" y="28712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 моделът?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68276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5200" y="206883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kern="0" spc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Демо</a:t>
            </a:r>
            <a:endParaRPr lang="en-US" sz="5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Технологии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911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· Raspberry Pi · Eye Tracker · </a:t>
            </a: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/ ML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83480" y="1911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· HuggingFace Transformers · Logit re-ranking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· Python · WebSockets · pymongo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60604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83480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834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MongoDB · Pydantic схеми · JSON персистиране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105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· Vite · WebSocket hook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70332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83480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КОМУНИКАЦИЯ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83480" y="4105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WebSocket сървър · Serial / WiFi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Процес на работа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56616" y="1426464"/>
            <a:ext cx="36576" cy="566928"/>
          </a:xfrm>
          <a:prstGeom prst="rect">
            <a:avLst/>
          </a:prstGeom>
          <a:solidFill>
            <a:srgbClr val="303030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00" cy="585216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4904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1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Дефиниране на системата · избор на модел · MongoDB схема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560320" y="1490472"/>
            <a:ext cx="0" cy="457200"/>
          </a:xfrm>
          <a:prstGeom prst="line">
            <a:avLst/>
          </a:prstGeom>
          <a:noFill/>
          <a:ln w="6350">
            <a:solidFill>
              <a:srgbClr val="1E1E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520" y="2139696"/>
            <a:ext cx="36576" cy="566928"/>
          </a:xfrm>
          <a:prstGeom prst="rect">
            <a:avLst/>
          </a:prstGeom>
          <a:solidFill>
            <a:srgbClr val="303030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130552"/>
            <a:ext cx="8229600" cy="585216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2037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2</a:t>
            </a:r>
            <a:endParaRPr lang="en-US" sz="1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651760" y="22677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сървър · WebSocket · логит предсказване · DB филтриране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60320" y="2203704"/>
            <a:ext cx="0" cy="457200"/>
          </a:xfrm>
          <a:prstGeom prst="line">
            <a:avLst/>
          </a:prstGeom>
          <a:noFill/>
          <a:ln w="6350">
            <a:solidFill>
              <a:srgbClr val="1E1E1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843784"/>
            <a:ext cx="8229600" cy="585216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29169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3</a:t>
            </a:r>
            <a:endParaRPr lang="en-US" sz="11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100" b="1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2651760" y="298094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</a:t>
            </a:r>
            <a:r>
              <a:rPr lang="bg-BG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</a:t>
            </a: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Raspberry Pi интеграция · сензорен стрийм · WebSocket към React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60320" y="2916936"/>
            <a:ext cx="0" cy="457200"/>
          </a:xfrm>
          <a:prstGeom prst="line">
            <a:avLst/>
          </a:prstGeom>
          <a:noFill/>
          <a:ln w="6350">
            <a:solidFill>
              <a:srgbClr val="1E1E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557016"/>
            <a:ext cx="8229600" cy="585216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630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4</a:t>
            </a:r>
            <a:endParaRPr lang="en-US" sz="11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b="1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2651760" y="3694176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интерфейс · Communicate &amp; Actions · Voxen UI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560320" y="3630168"/>
            <a:ext cx="0" cy="457200"/>
          </a:xfrm>
          <a:prstGeom prst="line">
            <a:avLst/>
          </a:prstGeom>
          <a:noFill/>
          <a:ln w="6350">
            <a:solidFill>
              <a:srgbClr val="1E1E1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70248"/>
            <a:ext cx="8229600" cy="585216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77240" y="4343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5</a:t>
            </a:r>
            <a:endParaRPr lang="en-US" sz="11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100" b="1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2651760" y="440740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End-to-end тест · TTS · Action Space · финал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560320" y="4343400"/>
            <a:ext cx="0" cy="457200"/>
          </a:xfrm>
          <a:prstGeom prst="line">
            <a:avLst/>
          </a:prstGeom>
          <a:noFill/>
          <a:ln w="6350">
            <a:solidFill>
              <a:srgbClr val="1E1E1E"/>
            </a:solidFill>
            <a:prstDash val="solid"/>
          </a:ln>
        </p:spPr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FB7D893F-492D-49E2-93D1-44902539BDE3}"/>
              </a:ext>
            </a:extLst>
          </p:cNvPr>
          <p:cNvSpPr/>
          <p:nvPr/>
        </p:nvSpPr>
        <p:spPr>
          <a:xfrm>
            <a:off x="367704" y="2852928"/>
            <a:ext cx="36576" cy="566928"/>
          </a:xfrm>
          <a:prstGeom prst="rect">
            <a:avLst/>
          </a:prstGeom>
          <a:solidFill>
            <a:srgbClr val="303030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04F9842-6893-45EA-B814-5EE67C209B99}"/>
              </a:ext>
            </a:extLst>
          </p:cNvPr>
          <p:cNvSpPr/>
          <p:nvPr/>
        </p:nvSpPr>
        <p:spPr>
          <a:xfrm>
            <a:off x="366960" y="3584448"/>
            <a:ext cx="36576" cy="566928"/>
          </a:xfrm>
          <a:prstGeom prst="rect">
            <a:avLst/>
          </a:prstGeom>
          <a:solidFill>
            <a:srgbClr val="303030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47230AFB-25E5-48F1-AAC8-C078B670F43E}"/>
              </a:ext>
            </a:extLst>
          </p:cNvPr>
          <p:cNvSpPr/>
          <p:nvPr/>
        </p:nvSpPr>
        <p:spPr>
          <a:xfrm>
            <a:off x="366960" y="4279392"/>
            <a:ext cx="36576" cy="566928"/>
          </a:xfrm>
          <a:prstGeom prst="rect">
            <a:avLst/>
          </a:prstGeom>
          <a:solidFill>
            <a:srgbClr val="303030"/>
          </a:solidFill>
          <a:ln w="12700">
            <a:solidFill>
              <a:srgbClr val="303030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17">
            <a:extLst>
              <a:ext uri="{FF2B5EF4-FFF2-40B4-BE49-F238E27FC236}">
                <a16:creationId xmlns:a16="http://schemas.microsoft.com/office/drawing/2014/main" id="{C27B2D8A-E552-426C-A728-7D31B247FB9C}"/>
              </a:ext>
            </a:extLst>
          </p:cNvPr>
          <p:cNvSpPr/>
          <p:nvPr/>
        </p:nvSpPr>
        <p:spPr>
          <a:xfrm flipV="1">
            <a:off x="372960" y="3933432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Следващи стъпки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flipV="1">
            <a:off x="372960" y="1795320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10120" y="1877616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Интеграция със </a:t>
            </a: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Smart Home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V="1">
            <a:off x="372960" y="2510136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120" y="2590416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Повече входни методи</a:t>
            </a: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(EMG / EEG) и предварителни настройки</a:t>
            </a:r>
          </a:p>
        </p:txBody>
      </p:sp>
      <p:sp>
        <p:nvSpPr>
          <p:cNvPr id="13" name="Shape 11"/>
          <p:cNvSpPr/>
          <p:nvPr/>
        </p:nvSpPr>
        <p:spPr>
          <a:xfrm flipV="1">
            <a:off x="372960" y="3221784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7960" y="3308094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Работа офлайн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960" y="4029984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Многоезична поддръжка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7465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471</Words>
  <Application>Microsoft Office PowerPoint</Application>
  <PresentationFormat>On-screen Show (16:9)</PresentationFormat>
  <Paragraphs>142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Voxen</dc:title>
  <dc:subject>PptxGenJS Presentation</dc:subject>
  <dc:creator>PptxGenJS</dc:creator>
  <cp:lastModifiedBy>Teodor Penev</cp:lastModifiedBy>
  <cp:revision>33</cp:revision>
  <dcterms:created xsi:type="dcterms:W3CDTF">2026-03-27T13:49:03Z</dcterms:created>
  <dcterms:modified xsi:type="dcterms:W3CDTF">2026-04-15T12:46:08Z</dcterms:modified>
</cp:coreProperties>
</file>